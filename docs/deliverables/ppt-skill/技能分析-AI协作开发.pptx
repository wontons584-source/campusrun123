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3" Type="http://schemas.openxmlformats.org/officeDocument/2006/relationships/slide" Target="slides/slide13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5" Type="http://schemas.openxmlformats.org/officeDocument/2006/relationships/slide" Target="slides/slide15.xml" /><Relationship Id="rId23" Type="http://schemas.openxmlformats.org/officeDocument/2006/relationships/tableStyles" Target="tableStyles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22" Type="http://schemas.openxmlformats.org/officeDocument/2006/relationships/presProps" Target="presProps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notesMaster" Target="notesMasters/notesMaster1.xml" /><Relationship Id="rId24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padding: 60, background: '#FFFFFF' }}&gt;&#10;  &lt;Box style={{ flex: 1, justifyContent: 'center', gap: 24 }}&gt;&#10;    &lt;Box style={{ width: 72, height: 8, background: '#2563EB', borderRadius: 4 }} /&gt;&#10;    &lt;Text style={{ fontSize: 52, fontWeight: 'bold', color: '#1E293B', lineHeight: 1.2 }}&gt;&#10;      技能分析 · AI 协作开发的 6 个阶段&#10;    &lt;/Text&gt;&#10;    &lt;Text style={{ fontSize: 22, color: '#64748B', lineHeight: 1.5 }}&gt;&#10;      以 CampusRun（校园跑腿系统）为例，从 0 到 1 的可复现流程&#10;    &lt;/Text&gt;&#10;    &lt;Text style={{ fontSize: 17, color: '#94A3B8', lineHeight: 1.5 }}&gt;&#10;      1 个人 · 36 次提交 · 707 passed（615 单元 + 92 集成，截至 10 月 29 日）&#10;    &lt;/Text&gt;&#10;    &lt;Box style={{ marginTop: 12, background: '#EFF6FF', borderRadius: 8, padding: 16 }}&gt;&#10;      &lt;Text style={{ fontSize: 17, color: '#1E293B', lineHeight: 1.5 }}&gt;&#10;        AI 能把「写代码」的耗时压缩一半，但它会把「验证」的难度放大一倍。&#10;        省下来的时间必须投到验证上，不然是净亏。&#10;      &lt;/Text&gt;&#10;    &lt;/Box&gt;&#10;  &lt;/Box&gt;&#10;  &lt;Box style={{ flexDirection: 'row', justifyContent: 'space-between', alignItems: 'center', borderTop: '1px solid #E5E7EB', paddingTop: 20 }}&gt;&#10;    &lt;Text style={{ fontSize: 14, color: '#94A3B8' }}&gt;工程项目认知实践 · 技能分析&lt;/Text&gt;&#10;    &lt;Text style={{ fontSize: 14, color: '#94A3B8' }}&gt;2026-10-2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571500" y="1704975"/>
            <a:ext cx="685800" cy="76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571500" y="2009775"/>
            <a:ext cx="11049000" cy="7143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1E293B"/>
                </a:solidFill>
                <a:latin typeface="Microsoft YaHei"/>
                <a:ea typeface="Microsoft YaHei"/>
              </a:rPr>
              <a:t>技能分析</a:t>
            </a:r>
            <a:r>
              <a:rPr lang="en-US" sz="39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· AI </a:t>
            </a:r>
            <a:r>
              <a:rPr lang="zh-CN" sz="3900" b="1">
                <a:solidFill>
                  <a:srgbClr val="1E293B"/>
                </a:solidFill>
                <a:latin typeface="Microsoft YaHei"/>
                <a:ea typeface="Microsoft YaHei"/>
              </a:rPr>
              <a:t>协作开发的</a:t>
            </a:r>
            <a:r>
              <a:rPr lang="en-US" sz="39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3900" b="1">
                <a:solidFill>
                  <a:srgbClr val="1E293B"/>
                </a:solidFill>
                <a:latin typeface="Microsoft YaHei"/>
                <a:ea typeface="Microsoft YaHei"/>
              </a:rPr>
              <a:t>个阶段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571500" y="2952750"/>
            <a:ext cx="110490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以</a:t>
            </a:r>
            <a:r>
              <a:rPr lang="en-US" sz="1650">
                <a:solidFill>
                  <a:srgbClr val="64748B"/>
                </a:solidFill>
                <a:latin typeface="Microsoft YaHei"/>
                <a:ea typeface="Microsoft YaHei"/>
              </a:rPr>
              <a:t xml:space="preserve"> CampusRun</a:t>
            </a: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（校园跑腿系统）为例，从</a:t>
            </a:r>
            <a:r>
              <a:rPr lang="en-US" sz="1650">
                <a:solidFill>
                  <a:srgbClr val="64748B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到</a:t>
            </a:r>
            <a:r>
              <a:rPr lang="en-US" sz="1650">
                <a:solidFill>
                  <a:srgbClr val="64748B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的可复现流程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571500" y="3562350"/>
            <a:ext cx="110490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个人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36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次提交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707 passed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（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615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单元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+ 92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集成，截至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月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29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日）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571500" y="4200525"/>
            <a:ext cx="11049000" cy="600075"/>
          </a:xfrm>
          <a:prstGeom prst="roundRect">
            <a:avLst>
              <a:gd name="adj" fmla="val 12698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723900" y="4352925"/>
            <a:ext cx="107442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1E293B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能把「写代码」的耗时压缩一半，但它会把「验证」的难度放大一倍。</a:t>
            </a:r>
            <a:r>
              <a:rPr lang="en-US" sz="1275">
                <a:solidFill>
                  <a:srgbClr val="1E293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省下来的时间必须投到验证上，不然是净亏。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571500" y="5924550"/>
            <a:ext cx="11049000" cy="371475"/>
          </a:xfrm>
          <a:custGeom>
            <a:pathLst>
              <a:path w="1160" h="39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571500" y="612457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工程项目认知实践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技能分析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10877550" y="6124575"/>
            <a:ext cx="742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2026-10-29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43" name="" descr="&lt;Slide style={{ padding: 60, background: '#FFFFFF' }}&gt;&#10;  &lt;Box style={{ flexDirection: 'column', gap: 12, marginBottom: 22 }}&gt;&#10;    &lt;Text style={{ fontSize: 36, fontWeight: 'bold', color: '#1E293B', lineHeight: 1.2 }}&gt;&#10;      不是「要不要用 AI」，是「用了以后哪些事变了」&#10;    &lt;/Text&gt;&#10;    &lt;Box style={{ width: '100%', height: 1, background: '#E5E7EB' }} /&gt;&#10;  &lt;/Box&gt;&#10;  &lt;Box style={{ flexDirection: 'row', gap: 24, flex: 1 }}&gt;&#10;    &lt;Box style={{ flex: 1, background: '#F8FAFC', border: '1px solid #E5E7EB', borderRadius: 12, padding: 24, gap: 12 }}&gt;&#10;      &lt;Text style={{ fontSize: 22, fontWeight: 'bold', color: '#2563EB', lineHeight: 1.3 }}&gt;变了的事&lt;/Text&gt;&#10;      {['写代码从「敲」变成「审」——阅读量占比从 30% 涨到 70%', '试错成本极低，所以你更容易一次改 5 个地方，然后全乱', '它写测试比人快，所以你会误以为测试覆盖度提高了'].map((s, i) =&gt; (&#10;        &lt;Box key={i} style={{ flexDirection: 'row', alignItems: 'flex-start', gap: 10 }}&gt;&#10;          &lt;Text style={{ fontSize: 16, color: '#2563EB', fontWeight: 'bold', lineHeight: 1.5 }}&gt;▸&lt;/Text&gt;&#10;          &lt;Text style={{ fontSize: 17, color: '#1E293B', lineHeight: 1.5, flex: 1 }}&gt;{s}&lt;/Text&gt;&#10;        &lt;/Box&gt;&#10;      ))}&#10;    &lt;/Box&gt;&#10;    &lt;Box style={{ flex: 1, background: '#F8FAFC', border: '1px solid #E5E7EB', borderRadius: 12, padding: 24, gap: 12 }}&gt;&#10;      &lt;Text style={{ fontSize: 22, fontWeight: 'bold', color: '#64748B', lineHeight: 1.3 }}&gt;没变的事&lt;/Text&gt;&#10;      {['需求边界不清 → 还是要返工', '边界条件没想明白 → 它会给你一个「看起来对」的实现', '真实环境的约束（列宽、事务隔离、锁）→ 它不会替你想'].map((s, i) =&gt; (&#10;        &lt;Box key={i} style={{ flexDirection: 'row', alignItems: 'flex-start', gap: 10 }}&gt;&#10;          &lt;Text style={{ fontSize: 16, color: '#64748B', fontWeight: 'bold', lineHeight: 1.5 }}&gt;▸&lt;/Text&gt;&#10;          &lt;Text style={{ fontSize: 17, color: '#1E293B', lineHeight: 1.5, flex: 1 }}&gt;{s}&lt;/Text&gt;&#10;        &lt;/Box&gt;&#10;      ))}&#10;    &lt;/Box&gt;&#10;  &lt;/Box&gt;&#10;  &lt;Box style={{ background: '#2563EB', borderRadius: 8, padding: 16, marginTop: 22 }}&gt;&#10;    &lt;Text style={{ fontSize: 20, color: '#FFFFFF', lineHeight: 1.5 }}&gt;&#10;      核心主张：&lt;span style={{ fontWeight: 'bold' }}&gt;把 AI 当「实现者」，不要当「验收者」&lt;/span&gt;——验收标准必须由人写，且必须是能跑、能红、能绿的断言。&#10;    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不是「要不要用</a:t>
            </a:r>
            <a:r>
              <a:rPr lang="en-US" sz="27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AI</a:t>
            </a: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」，是「用了以后哪些事变了」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571500" y="1181100"/>
            <a:ext cx="11049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347" name=""/>
          <p:cNvSpPr/>
          <p:nvPr/>
        </p:nvSpPr>
        <p:spPr>
          <a:xfrm rot="0" flipH="0" flipV="0">
            <a:off x="571500" y="1400175"/>
            <a:ext cx="5410200" cy="4029075"/>
          </a:xfrm>
          <a:prstGeom prst="roundRect">
            <a:avLst>
              <a:gd name="adj" fmla="val 283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800100" y="1628775"/>
            <a:ext cx="49530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变了的事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800100" y="2076450"/>
            <a:ext cx="76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</a:rPr>
              <a:t>▸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971550" y="2076450"/>
            <a:ext cx="47815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写代码从「敲」变成「审」——阅读量占比从</a:t>
            </a:r>
            <a:r>
              <a:rPr lang="en-US" sz="1275">
                <a:solidFill>
                  <a:srgbClr val="1E293B"/>
                </a:solidFill>
                <a:latin typeface="Microsoft YaHei"/>
                <a:ea typeface="Microsoft YaHei"/>
              </a:rPr>
              <a:t xml:space="preserve"> 30% </a:t>
            </a: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涨到</a:t>
            </a:r>
            <a:r>
              <a:rPr lang="en-US" sz="1275">
                <a:solidFill>
                  <a:srgbClr val="1E293B"/>
                </a:solidFill>
                <a:latin typeface="Microsoft YaHei"/>
                <a:ea typeface="Microsoft YaHei"/>
              </a:rPr>
              <a:t xml:space="preserve"> 70%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800100" y="2486025"/>
            <a:ext cx="76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</a:rPr>
              <a:t>▸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971550" y="2486025"/>
            <a:ext cx="47815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试错成本极低，所以你更容易一次改</a:t>
            </a:r>
            <a:r>
              <a:rPr lang="en-US" sz="1275">
                <a:solidFill>
                  <a:srgbClr val="1E293B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个地方，然后全乱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800100" y="2895600"/>
            <a:ext cx="76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</a:rPr>
              <a:t>▸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971550" y="2895600"/>
            <a:ext cx="47815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它写测试比人快，所以你会误以为测试覆盖度提高了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6210300" y="1400175"/>
            <a:ext cx="5410200" cy="4029075"/>
          </a:xfrm>
          <a:prstGeom prst="roundRect">
            <a:avLst>
              <a:gd name="adj" fmla="val 283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6438900" y="1628775"/>
            <a:ext cx="49530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64748B"/>
                </a:solidFill>
                <a:latin typeface="Microsoft YaHei"/>
                <a:ea typeface="Microsoft YaHei"/>
              </a:rPr>
              <a:t>没变的事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6438900" y="2076450"/>
            <a:ext cx="76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▸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6610350" y="2076450"/>
            <a:ext cx="47815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需求边界不清</a:t>
            </a:r>
            <a:r>
              <a:rPr lang="en-US" sz="1275">
                <a:solidFill>
                  <a:srgbClr val="1E293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还是要返工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6438900" y="2486025"/>
            <a:ext cx="76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▸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6610350" y="2486025"/>
            <a:ext cx="47815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边界条件没想明白</a:t>
            </a:r>
            <a:r>
              <a:rPr lang="en-US" sz="1275">
                <a:solidFill>
                  <a:srgbClr val="1E293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它会给你一个「看起来对」的实现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6438900" y="2895600"/>
            <a:ext cx="76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▸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6610350" y="2895600"/>
            <a:ext cx="47815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真实环境的约束（列宽、事务隔离、锁）→</a:t>
            </a:r>
            <a:r>
              <a:rPr lang="en-US" sz="1275">
                <a:solidFill>
                  <a:srgbClr val="1E293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它不会替你想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571500" y="5638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723900" y="5791200"/>
            <a:ext cx="107442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核心主张：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把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当「实现者」，不要当「验收者」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——验收标准必须由人写，且必须是能跑、能红、能绿的断言。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386" name="" descr="&lt;Slide style={{ padding: 60, background: '#FFFFFF' }}&gt;&#10;  &lt;Box style={{ flexDirection: 'column', gap: 12, marginBottom: 24 }}&gt;&#10;    &lt;Text style={{ fontSize: 36, fontWeight: 'bold', color: '#1E293B', lineHeight: 1.2 }}&gt;&#10;      从一句话需求到一个能跑的系统，我拆成 6 步&#10;    &lt;/Text&gt;&#10;    &lt;Box style={{ width: '100%', height: 1, background: '#E5E7EB' }} /&gt;&#10;  &lt;/Box&gt;&#10;  &lt;Box style={{ flexDirection: 'row', gap: 12, flex: 1 }}&gt;&#10;    {[&#10;      { n: '①', t: '需求', d: 'PRD + 状态迁移表', skip: false },&#10;      { n: '②', t: '架构', d: 'ADR + 数据模型', skip: false },&#10;      { n: '③', t: '骨架', d: '目录 + 迁移 + 配置', skip: false },&#10;      { n: '④', t: '编码', d: '状态机 + 仓储 + 接口', skip: false },&#10;      { n: '⑤', t: '验证', d: '单测 + 真库 + 并发', skip: false },&#10;      { n: '⑥', t: '收口', d: '文档回写', skip: true },&#10;    ].map((s, i) =&gt; (&#10;      &lt;Box key={i} style={{ flex: 1, background: s.skip ? '#FFFFFF' : '#F8FAFC', border: s.skip ? '2px dashed #F59E0B' : '1px solid #E5E7EB', borderRadius: 10, padding: 18, justifyContent: 'center', gap: 10 }}&gt;&#10;        &lt;Text style={{ fontSize: 22, fontWeight: 'bold', color: s.skip ? '#F59E0B' : '#2563EB', lineHeight: 1.2 }}&gt;{s.n}&lt;/Text&gt;&#10;        &lt;Text style={{ fontSize: 22, fontWeight: 'bold', color: '#1E293B', lineHeight: 1.3 }}&gt;{s.t}&lt;/Text&gt;&#10;        &lt;Text style={{ fontSize: 14, color: '#64748B', lineHeight: 1.4 }}&gt;{s.d}&lt;/Text&gt;&#10;      &lt;/Box&gt;&#10;    ))}&#10;  &lt;/Box&gt;&#10;  &lt;Box style={{ background: '#FEF3C7', borderRadius: 8, padding: 16, marginTop: 22, flexDirection: 'row', alignItems: 'center', gap: 12 }}&gt;&#10;    &lt;Text style={{ fontSize: 17, color: '#1E293B', lineHeight: 1.5, flex: 1 }}&gt;&#10;      &lt;span style={{ fontWeight: 'bold', color: '#B45309' }}&gt;最容易跳步的是 ⑥（收口）。&lt;/span&gt;我跳过它，代价是后来有 4 处文档和实现对不上，回查花了一个晚上。&#10;    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从一句话需求到一个能跑的系统，我拆成</a:t>
            </a:r>
            <a:r>
              <a:rPr lang="en-US" sz="27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571500" y="1181100"/>
            <a:ext cx="11049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390" name=""/>
          <p:cNvSpPr/>
          <p:nvPr/>
        </p:nvSpPr>
        <p:spPr>
          <a:xfrm rot="0" flipH="0" flipV="0">
            <a:off x="571500" y="1419225"/>
            <a:ext cx="1743075" cy="4057650"/>
          </a:xfrm>
          <a:prstGeom prst="roundRect">
            <a:avLst>
              <a:gd name="adj" fmla="val 5464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742950" y="2924175"/>
            <a:ext cx="1400175" cy="3048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742950" y="3324225"/>
            <a:ext cx="140017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需求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742950" y="3752850"/>
            <a:ext cx="140017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PRD 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状态迁移表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2428875" y="1419225"/>
            <a:ext cx="1752600" cy="4057650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2600325" y="2924175"/>
            <a:ext cx="1409700" cy="3048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2600325" y="3324225"/>
            <a:ext cx="14097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架构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2600325" y="3752850"/>
            <a:ext cx="14097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ADR 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数据模型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4295775" y="1419225"/>
            <a:ext cx="1743075" cy="4057650"/>
          </a:xfrm>
          <a:prstGeom prst="roundRect">
            <a:avLst>
              <a:gd name="adj" fmla="val 5464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4467225" y="2924175"/>
            <a:ext cx="1400175" cy="3048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4467225" y="3324225"/>
            <a:ext cx="140017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骨架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4467225" y="3752850"/>
            <a:ext cx="140017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目录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迁移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配置</a:t>
            </a:r>
            <a:endParaRPr/>
          </a:p>
        </p:txBody>
      </p:sp>
      <p:sp>
        <p:nvSpPr>
          <p:cNvPr id="402" name=""/>
          <p:cNvSpPr/>
          <p:nvPr/>
        </p:nvSpPr>
        <p:spPr>
          <a:xfrm rot="0" flipH="0" flipV="0">
            <a:off x="6153150" y="1419225"/>
            <a:ext cx="1743075" cy="4057650"/>
          </a:xfrm>
          <a:prstGeom prst="roundRect">
            <a:avLst>
              <a:gd name="adj" fmla="val 5464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6324600" y="2924175"/>
            <a:ext cx="1400175" cy="3048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6324600" y="3324225"/>
            <a:ext cx="140017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编码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6324600" y="3752850"/>
            <a:ext cx="140017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状态机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仓储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接口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8010525" y="1419225"/>
            <a:ext cx="1752600" cy="4057650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8181975" y="2924175"/>
            <a:ext cx="1409700" cy="3048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</a:rPr>
              <a:t>⑤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8181975" y="3324225"/>
            <a:ext cx="14097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验证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8181975" y="3752850"/>
            <a:ext cx="14097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单测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真库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并发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9877425" y="1419225"/>
            <a:ext cx="1743075" cy="4057650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dash"/>
          </a:ln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10048875" y="2924175"/>
            <a:ext cx="1400175" cy="3048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sz="1650" b="1">
                <a:solidFill>
                  <a:srgbClr val="F59E0B"/>
                </a:solidFill>
                <a:latin typeface="Microsoft YaHei"/>
                <a:ea typeface="Microsoft YaHei"/>
              </a:rPr>
              <a:t>⑥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10048875" y="3324225"/>
            <a:ext cx="140017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收口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10048875" y="3752850"/>
            <a:ext cx="140017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文档回写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571500" y="5686425"/>
            <a:ext cx="11049000" cy="600075"/>
          </a:xfrm>
          <a:prstGeom prst="roundRect">
            <a:avLst>
              <a:gd name="adj" fmla="val 12698"/>
            </a:avLst>
          </a:prstGeom>
          <a:solidFill>
            <a:srgbClr val="FEF3C7"/>
          </a:solidFill>
          <a:ln/>
        </p:spPr>
        <p:txBody>
          <a:bodyPr/>
          <a:p/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723900" y="5838825"/>
            <a:ext cx="107442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B45309"/>
                </a:solidFill>
                <a:latin typeface="Microsoft YaHei"/>
                <a:ea typeface="Microsoft YaHei"/>
              </a:rPr>
              <a:t>最容易跳步的是</a:t>
            </a:r>
            <a:r>
              <a:rPr lang="en-US" sz="1275" b="1">
                <a:solidFill>
                  <a:srgbClr val="B45309"/>
                </a:solidFill>
                <a:latin typeface="Microsoft YaHei"/>
                <a:ea typeface="Microsoft YaHei"/>
              </a:rPr>
              <a:t xml:space="preserve"> ⑥</a:t>
            </a:r>
            <a:r>
              <a:rPr lang="zh-CN" sz="1275" b="1">
                <a:solidFill>
                  <a:srgbClr val="B45309"/>
                </a:solidFill>
                <a:latin typeface="Microsoft YaHei"/>
                <a:ea typeface="Microsoft YaHei"/>
              </a:rPr>
              <a:t>（收口）。</a:t>
            </a: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我跳过它，代价是后来有</a:t>
            </a:r>
            <a:r>
              <a:rPr lang="en-US" sz="1275">
                <a:solidFill>
                  <a:srgbClr val="1E293B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处文档和实现对不上，回查花了一个晚上。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416" name="" descr="&lt;Slide style={{ padding: 60, background: '#FFFFFF' }}&gt;&#10;  &lt;Box style={{ flexDirection: 'column', gap: 12, marginBottom: 22 }}&gt;&#10;    &lt;Text style={{ fontSize: 36, fontWeight: 'bold', color: '#1E293B', lineHeight: 1.2 }}&gt;&#10;      谁负责什么，边界要写死&#10;    &lt;/Text&gt;&#10;    &lt;Box style={{ width: '100%', height: 1, background: '#E5E7EB' }} /&gt;&#10;  &lt;/Box&gt;&#10;  &lt;Box style={{ flexDirection: 'row', gap: 24, flex: 1 }}&gt;&#10;    &lt;Box style={{ flex: 1, background: '#EFF6FF', border: '1px solid #BFDBFE', borderRadius: 12, padding: 24, gap: 12 }}&gt;&#10;      &lt;Text style={{ fontSize: 22, fontWeight: 'bold', color: '#2563EB', lineHeight: 1.3 }}&gt;我负责 · 不可外包&lt;/Text&gt;&#10;      {['判定「什么算对」——判据、断言', '边界条件的枚举（0 秒 / 45 分 / 45 分零 1 秒）', '真实环境的约束（列宽、隔离级别、锁）', '数据模型与索引的取舍', '最后的验收签字'].map((s, i) =&gt; (&#10;        &lt;Box key={i} style={{ flexDirection: 'row', alignItems: 'flex-start', gap: 10 }}&gt;&#10;          &lt;Text style={{ fontSize: 16, color: '#2563EB', fontWeight: 'bold', lineHeight: 1.5 }}&gt;▸&lt;/Text&gt;&#10;          &lt;Text style={{ fontSize: 17, color: '#1E293B', lineHeight: 1.5, flex: 1 }}&gt;{s}&lt;/Text&gt;&#10;        &lt;/Box&gt;&#10;      ))}&#10;    &lt;/Box&gt;&#10;    &lt;Box style={{ flex: 1, background: '#F8FAFC', border: '1px solid #E5E7EB', borderRadius: 12, padding: 24, gap: 12 }}&gt;&#10;      &lt;Text style={{ fontSize: 22, fontWeight: 'bold', color: '#64748B', lineHeight: 1.3 }}&gt;AI 负责 · 可放心交&lt;/Text&gt;&#10;      {['按判据写出实现', '把边界写成参数化测试', '把约束翻译成 SQL / 迁移', '生成迁移脚本与索引 DDL', '自查、补充遗漏分支、写注释'].map((s, i) =&gt; (&#10;        &lt;Box key={i} style={{ flexDirection: 'row', alignItems: 'flex-start', gap: 10 }}&gt;&#10;          &lt;Text style={{ fontSize: 16, color: '#64748B', fontWeight: 'bold', lineHeight: 1.5 }}&gt;▸&lt;/Text&gt;&#10;          &lt;Text style={{ fontSize: 17, color: '#1E293B', lineHeight: 1.5, flex: 1 }}&gt;{s}&lt;/Text&gt;&#10;        &lt;/Box&gt;&#10;      ))}&#10;    &lt;/Box&gt;&#10;  &lt;/Box&gt;&#10;  &lt;Box style={{ background: '#FEF3C7', borderRadius: 8, padding: 16, marginTop: 22 }}&gt;&#10;    &lt;Text style={{ fontSize: 17, color: '#1E293B', lineHeight: 1.5 }}&gt;&#10;      一条硬规矩：&lt;span style={{ fontWeight: 'bold', color: '#B45309' }}&gt;AI 说「已通过」不构成验收，我只认我自己跑出来的结果。&lt;/span&gt;因为它既当运动员又当裁判，第 10 页那次事故就是这么发生的。&#10;    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谁负责什么，边界要写死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571500" y="1181100"/>
            <a:ext cx="11049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420" name=""/>
          <p:cNvSpPr/>
          <p:nvPr/>
        </p:nvSpPr>
        <p:spPr>
          <a:xfrm rot="0" flipH="0" flipV="0">
            <a:off x="571500" y="1400175"/>
            <a:ext cx="5410200" cy="4076700"/>
          </a:xfrm>
          <a:prstGeom prst="roundRect">
            <a:avLst>
              <a:gd name="adj" fmla="val 280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800100" y="1628775"/>
            <a:ext cx="49530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我负责</a:t>
            </a:r>
            <a:r>
              <a:rPr lang="en-US" sz="165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不可外包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800100" y="2076450"/>
            <a:ext cx="76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</a:rPr>
              <a:t>▸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971550" y="2076450"/>
            <a:ext cx="47815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判定「什么算对」——判据、断言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800100" y="2486025"/>
            <a:ext cx="76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</a:rPr>
              <a:t>▸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971550" y="2486025"/>
            <a:ext cx="47815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边界条件的枚举（</a:t>
            </a:r>
            <a:r>
              <a:rPr lang="en-US" sz="1275">
                <a:solidFill>
                  <a:srgbClr val="1E293B"/>
                </a:solidFill>
                <a:latin typeface="Microsoft YaHei"/>
                <a:ea typeface="Microsoft YaHei"/>
              </a:rPr>
              <a:t xml:space="preserve">0 </a:t>
            </a: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秒</a:t>
            </a:r>
            <a:r>
              <a:rPr lang="en-US" sz="1275">
                <a:solidFill>
                  <a:srgbClr val="1E293B"/>
                </a:solidFill>
                <a:latin typeface="Microsoft YaHei"/>
                <a:ea typeface="Microsoft YaHei"/>
              </a:rPr>
              <a:t xml:space="preserve"> / 45 </a:t>
            </a: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分</a:t>
            </a:r>
            <a:r>
              <a:rPr lang="en-US" sz="1275">
                <a:solidFill>
                  <a:srgbClr val="1E293B"/>
                </a:solidFill>
                <a:latin typeface="Microsoft YaHei"/>
                <a:ea typeface="Microsoft YaHei"/>
              </a:rPr>
              <a:t xml:space="preserve"> / 45 </a:t>
            </a: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分零</a:t>
            </a:r>
            <a:r>
              <a:rPr lang="en-US" sz="1275">
                <a:solidFill>
                  <a:srgbClr val="1E293B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秒）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800100" y="2895600"/>
            <a:ext cx="76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</a:rPr>
              <a:t>▸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971550" y="2895600"/>
            <a:ext cx="47815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真实环境的约束（列宽、隔离级别、锁）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800100" y="3305175"/>
            <a:ext cx="76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</a:rPr>
              <a:t>▸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971550" y="3305175"/>
            <a:ext cx="47815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数据模型与索引的取舍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800100" y="3714750"/>
            <a:ext cx="76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</a:rPr>
              <a:t>▸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971550" y="3714750"/>
            <a:ext cx="47815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最后的验收签字</a:t>
            </a:r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6210300" y="1400175"/>
            <a:ext cx="5410200" cy="4076700"/>
          </a:xfrm>
          <a:prstGeom prst="roundRect">
            <a:avLst>
              <a:gd name="adj" fmla="val 2804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6438900" y="1628775"/>
            <a:ext cx="49530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650" b="1">
                <a:solidFill>
                  <a:srgbClr val="64748B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650" b="1">
                <a:solidFill>
                  <a:srgbClr val="64748B"/>
                </a:solidFill>
                <a:latin typeface="Microsoft YaHei"/>
                <a:ea typeface="Microsoft YaHei"/>
              </a:rPr>
              <a:t>负责</a:t>
            </a:r>
            <a:r>
              <a:rPr lang="en-US" sz="1650" b="1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>
                <a:solidFill>
                  <a:srgbClr val="64748B"/>
                </a:solidFill>
                <a:latin typeface="Microsoft YaHei"/>
                <a:ea typeface="Microsoft YaHei"/>
              </a:rPr>
              <a:t>可放心交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6438900" y="2076450"/>
            <a:ext cx="76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▸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6610350" y="2076450"/>
            <a:ext cx="47815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按判据写出实现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6438900" y="2486025"/>
            <a:ext cx="76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▸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6610350" y="2486025"/>
            <a:ext cx="47815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把边界写成参数化测试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6438900" y="2895600"/>
            <a:ext cx="76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▸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6610350" y="2895600"/>
            <a:ext cx="47815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把约束翻译成</a:t>
            </a:r>
            <a:r>
              <a:rPr lang="en-US" sz="1275">
                <a:solidFill>
                  <a:srgbClr val="1E293B"/>
                </a:solidFill>
                <a:latin typeface="Microsoft YaHei"/>
                <a:ea typeface="Microsoft YaHei"/>
              </a:rPr>
              <a:t xml:space="preserve"> SQL / </a:t>
            </a: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迁移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6438900" y="3305175"/>
            <a:ext cx="76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▸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6610350" y="3305175"/>
            <a:ext cx="47815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生成迁移脚本与索引</a:t>
            </a:r>
            <a:r>
              <a:rPr lang="en-US" sz="1275">
                <a:solidFill>
                  <a:srgbClr val="1E293B"/>
                </a:solidFill>
                <a:latin typeface="Microsoft YaHei"/>
                <a:ea typeface="Microsoft YaHei"/>
              </a:rPr>
              <a:t xml:space="preserve"> DDL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6438900" y="3714750"/>
            <a:ext cx="76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▸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6610350" y="3714750"/>
            <a:ext cx="47815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自查、补充遗漏分支、写注释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571500" y="5686425"/>
            <a:ext cx="11049000" cy="600075"/>
          </a:xfrm>
          <a:prstGeom prst="roundRect">
            <a:avLst>
              <a:gd name="adj" fmla="val 12698"/>
            </a:avLst>
          </a:prstGeom>
          <a:solidFill>
            <a:srgbClr val="FEF3C7"/>
          </a:solidFill>
          <a:ln/>
        </p:spPr>
        <p:txBody>
          <a:bodyPr/>
          <a:p/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723900" y="5838825"/>
            <a:ext cx="107442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一条硬规矩：</a:t>
            </a:r>
            <a:r>
              <a:rPr lang="en-US" sz="1275" b="1">
                <a:solidFill>
                  <a:srgbClr val="B45309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275" b="1">
                <a:solidFill>
                  <a:srgbClr val="B45309"/>
                </a:solidFill>
                <a:latin typeface="Microsoft YaHei"/>
                <a:ea typeface="Microsoft YaHei"/>
              </a:rPr>
              <a:t>说「已通过」不构成验收，我只认我自己跑出来的结果。</a:t>
            </a: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因为它既当运动员又当裁判，第</a:t>
            </a:r>
            <a:r>
              <a:rPr lang="en-US" sz="1275">
                <a:solidFill>
                  <a:srgbClr val="1E293B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页那次事故就是这么发生的。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446" name="" descr="&lt;Slide style={{ padding: 60, background: '#FFFFFF' }}&gt;&#10;  &lt;Box style={{ flexDirection: 'column', gap: 12, marginBottom: 22 }}&gt;&#10;    &lt;Text style={{ fontSize: 36, fontWeight: 'bold', color: '#1E293B', lineHeight: 1.2 }}&gt;&#10;      阶段① 需求：让 AI 当提问者&#10;    &lt;/Text&gt;&#10;    &lt;Box style={{ width: '100%', height: 1, background: '#E5E7EB' }} /&gt;&#10;  &lt;/Box&gt;&#10;  &lt;Box style={{ flexDirection: 'row', gap: 24, flex: 1 }}&gt;&#10;    &lt;Box style={{ flex: 1, flexDirection: 'column', gap: 16 }}&gt;&#10;      &lt;Box style={{ background: '#FEF2F2', border: '1px solid #FECACA', borderRadius: 10, padding: 18, gap: 8 }}&gt;&#10;        &lt;Text style={{ fontSize: 16, fontWeight: 'bold', color: '#DC2626', lineHeight: 1.3 }}&gt;错误开场&lt;/Text&gt;&#10;        &lt;Text style={{ fontSize: 16, color: '#1E293B', lineHeight: 1.45 }}&gt;「帮我设计一个校园跑腿系统」&lt;/Text&gt;&#10;        &lt;Text style={{ fontSize: 15, color: '#64748B', lineHeight: 1.45 }}&gt;→ 得到一份换个项目名也能用的泛泛方案&lt;/Text&gt;&#10;      &lt;/Box&gt;&#10;      &lt;Box style={{ background: '#ECFDF5', border: '1px solid #A7F3D0', borderRadius: 10, padding: 18, gap: 8 }}&gt;&#10;        &lt;Text style={{ fontSize: 16, fontWeight: 'bold', color: '#15803D', lineHeight: 1.3 }}&gt;正确开场&lt;/Text&gt;&#10;        &lt;Text style={{ fontSize: 16, color: '#1E293B', lineHeight: 1.45 }}&gt;先让它问你问题，你一个一个答&lt;/Text&gt;&#10;        &lt;Text style={{ fontSize: 15, color: '#64748B', lineHeight: 1.45 }}&gt;→ 一半是废话，剩下那一半逼你想清「接单人能不能同时接多单」&lt;/Text&gt;&#10;      &lt;/Box&gt;&#10;    &lt;/Box&gt;&#10;    &lt;Box style={{ flex: 1.1, flexDirection: 'column', gap: 12 }}&gt;&#10;      &lt;Text style={{ fontSize: 20, fontWeight: 'bold', color: '#1E293B', lineHeight: 1.3 }}&gt;异常路径，单独列一章&lt;/Text&gt;&#10;      &lt;Text style={{ fontSize: 16, color: '#64748B', lineHeight: 1.5 }}&gt;&#10;        顺利路径（发单→抢单→送达→确认）2 小时能写完；异常路径（超时、失联、取消、争议、仲裁）占了设计时间一半以上——但它才是真正的价值所在。&#10;      &lt;/Text&gt;&#10;      &lt;Box style={{ background: '#F8FAFC', border: '1px solid #E5E7EB', borderRadius: 10, padding: 16, gap: 8 }}&gt;&#10;        &lt;Text style={{ fontSize: 17, fontWeight: 'bold', color: '#2563EB', lineHeight: 1.3 }}&gt;需求阶段必须产出：状态迁移表&lt;/Text&gt;&#10;        &lt;Text style={{ fontSize: 15, color: '#64748B', lineHeight: 1.5 }}&gt;&#10;          每行：从哪个状态 / 什么动作 / 到什么状态 / 谁可以做 / 什么条件 / 触发什么副作用&#10;        &lt;/Text&gt;&#10;        &lt;Text style={{ fontSize: 15, color: '#1E293B', lineHeight: 1.45 }}&gt;&#10;          这张表是后面写代码和写测试的&lt;span style={{ fontWeight: 'bold' }}&gt;唯一来源&lt;/span&gt;。&#10;        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阶段①</a:t>
            </a:r>
            <a:r>
              <a:rPr lang="en-US" sz="27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需求：让</a:t>
            </a:r>
            <a:r>
              <a:rPr lang="en-US" sz="27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当提问者</a:t>
            </a:r>
            <a:endParaRPr/>
          </a:p>
        </p:txBody>
      </p:sp>
      <p:sp>
        <p:nvSpPr>
          <p:cNvPr id="449" name=""/>
          <p:cNvSpPr/>
          <p:nvPr/>
        </p:nvSpPr>
        <p:spPr>
          <a:xfrm rot="0" flipH="0" flipV="0">
            <a:off x="571500" y="1181100"/>
            <a:ext cx="11049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450" name=""/>
          <p:cNvSpPr/>
          <p:nvPr/>
        </p:nvSpPr>
        <p:spPr>
          <a:xfrm rot="0" flipH="0" flipV="0">
            <a:off x="571500" y="1400175"/>
            <a:ext cx="5153025" cy="1257300"/>
          </a:xfrm>
          <a:prstGeom prst="roundRect">
            <a:avLst>
              <a:gd name="adj" fmla="val 7576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p/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742950" y="1571625"/>
            <a:ext cx="4810125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DC2626"/>
                </a:solidFill>
                <a:latin typeface="Microsoft YaHei"/>
                <a:ea typeface="Microsoft YaHei"/>
              </a:rPr>
              <a:t>错误开场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742950" y="1885950"/>
            <a:ext cx="481012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「帮我设计一个校园跑腿系统」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742950" y="2228850"/>
            <a:ext cx="481012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得到一份换个项目名也能用的泛泛方案</a:t>
            </a:r>
            <a:endParaRPr/>
          </a:p>
        </p:txBody>
      </p:sp>
      <p:sp>
        <p:nvSpPr>
          <p:cNvPr id="454" name=""/>
          <p:cNvSpPr/>
          <p:nvPr/>
        </p:nvSpPr>
        <p:spPr>
          <a:xfrm rot="0" flipH="0" flipV="0">
            <a:off x="571500" y="2809875"/>
            <a:ext cx="5153025" cy="1257300"/>
          </a:xfrm>
          <a:prstGeom prst="roundRect">
            <a:avLst>
              <a:gd name="adj" fmla="val 757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p/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742950" y="2981325"/>
            <a:ext cx="4810125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15803D"/>
                </a:solidFill>
                <a:latin typeface="Microsoft YaHei"/>
                <a:ea typeface="Microsoft YaHei"/>
              </a:rPr>
              <a:t>正确开场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742950" y="3295650"/>
            <a:ext cx="481012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先让它问你问题，你一个一个答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742950" y="3638550"/>
            <a:ext cx="481012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一半是废话，剩下那一半逼你想清「接单人能不能同时接多单」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5953125" y="1400175"/>
            <a:ext cx="566737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异常路径，单独列一章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5953125" y="1819275"/>
            <a:ext cx="56673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顺利路径（发单→抢单→送达→确认）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2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小时能写完；异常路径（超时、失联、取消、争议、仲裁）占了设计时间一半以上——但它才是真正的价值所在。</a:t>
            </a:r>
            <a:endParaRPr/>
          </a:p>
        </p:txBody>
      </p:sp>
      <p:sp>
        <p:nvSpPr>
          <p:cNvPr id="460" name=""/>
          <p:cNvSpPr/>
          <p:nvPr/>
        </p:nvSpPr>
        <p:spPr>
          <a:xfrm rot="0" flipH="0" flipV="0">
            <a:off x="5953125" y="2486025"/>
            <a:ext cx="5667375" cy="1228725"/>
          </a:xfrm>
          <a:prstGeom prst="roundRect">
            <a:avLst>
              <a:gd name="adj" fmla="val 775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6105525" y="2638425"/>
            <a:ext cx="5362575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2563EB"/>
                </a:solidFill>
                <a:latin typeface="Microsoft YaHei"/>
                <a:ea typeface="Microsoft YaHei"/>
              </a:rPr>
              <a:t>需求阶段必须产出：状态迁移表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6105525" y="2971800"/>
            <a:ext cx="53625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每行：从哪个状态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什么动作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到什么状态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谁可以做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什么条件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触发什么副作用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6105525" y="3305175"/>
            <a:ext cx="53625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这张表是后面写代码和写测试的</a:t>
            </a:r>
            <a:r>
              <a:rPr lang="zh-CN" sz="1125" b="1">
                <a:solidFill>
                  <a:srgbClr val="1E293B"/>
                </a:solidFill>
                <a:latin typeface="Microsoft YaHei"/>
                <a:ea typeface="Microsoft YaHei"/>
              </a:rPr>
              <a:t>唯一来源</a:t>
            </a: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464" name="" descr="&lt;Slide style={{ padding: 60, background: '#FFFFFF' }}&gt;&#10;  &lt;Box style={{ flexDirection: 'column', gap: 12, marginBottom: 20 }}&gt;&#10;    &lt;Text style={{ fontSize: 36, fontWeight: 'bold', color: '#1E293B', lineHeight: 1.2 }}&gt;&#10;      阶段② 架构：Prompt 1 · 让 AI 做架构设计&#10;    &lt;/Text&gt;&#10;    &lt;Box style={{ width: '100%', height: 1, background: '#E5E7EB' }} /&gt;&#10;  &lt;/Box&gt;&#10;  &lt;Box style={{ flexDirection: 'row', gap: 24, flex: 1 }}&gt;&#10;    &lt;Box style={{ flex: 1.2, background: '#0F172A', borderRadius: 10, padding: 20, justifyContent: 'center' }}&gt;&#10;      &lt;Text style={{ fontFamily: 'Consolas, monospace', fontSize: 13, color: '#E2E8F0', lineHeight: 1.55 }}&gt;&#10;        {'【任务】为&quot;校园跑腿&quot;订单系统做架构设计，只输出 5 项，不要写代码：\n1. 模块划分：职责 + 边界 + 纯函数/IO\n2. 核心表 DDL 要点（字段、类型、约束）\n3. 索引清单：每条必须写&quot;服务哪个查询&quot;\n4. 并发分析：每个竞争点 + 机制 + 为什么\n5. 明确的&quot;不做&quot;清单 + 不做的后果\n\n【约束】\n- 不引入消息队列、微服务、CQRS\n- 每个决定给&quot;为什么不用另一个方案&quot;\n- 信息不足列到&quot;待确认&quot;，不要自己假设\n\n【格式】表格优先，写&quot;因为…所以…&quot;，\n不要写&quot;最佳实践&quot;'}&#10;      &lt;/Text&gt;&#10;    &lt;/Box&gt;&#10;    &lt;Box style={{ flex: 1, flexDirection: 'column', gap: 14, justifyContent: 'center' }}&gt;&#10;      {[&#10;        { c: '「只输出 5 项，不要代码」', d: '防它跳过架构直接写代码' },&#10;        { c: '「每条索引写服务哪个查询」', d: '防它堆一堆看似专业的索引' },&#10;        { c: '「为什么不用另一个方案」', d: '防套话——必须说出被否掉的方案' },&#10;        { c: '「信息不足列待确认」', d: '防编造——救了我 3 处没想过的点' },&#10;      ].map((r, i) =&gt; (&#10;        &lt;Box key={i} style={{ flexDirection: 'column', gap: 2 }}&gt;&#10;          &lt;Text style={{ fontSize: 16, color: '#2563EB', fontWeight: 'bold', lineHeight: 1.4 }}&gt;{r.c}&lt;/Text&gt;&#10;          &lt;Text style={{ fontSize: 15, color: '#64748B', lineHeight: 1.4 }}&gt;{r.d}&lt;/Text&gt;&#10;        &lt;/Box&gt;&#10;      ))}&#10;      &lt;Text style={{ fontSize: 15, color: '#64748B', lineHeight: 1.5, marginTop: 4 }}&gt;&#10;        这四条约束决定了输出质量。实际效果：一次输出里有 3 处「待确认」是我确实没想过的——在途单上限、Redis 与 DB 谁权威、争议恢复后超时怎么算。&#10;      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阶段②</a:t>
            </a:r>
            <a:r>
              <a:rPr lang="en-US" sz="27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架构：</a:t>
            </a:r>
            <a:r>
              <a:rPr lang="en-US" sz="27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Prompt 1 · </a:t>
            </a: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让</a:t>
            </a:r>
            <a:r>
              <a:rPr lang="en-US" sz="27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做架构设计</a:t>
            </a:r>
            <a:endParaRPr/>
          </a:p>
        </p:txBody>
      </p:sp>
      <p:sp>
        <p:nvSpPr>
          <p:cNvPr id="467" name=""/>
          <p:cNvSpPr/>
          <p:nvPr/>
        </p:nvSpPr>
        <p:spPr>
          <a:xfrm rot="0" flipH="0" flipV="0">
            <a:off x="571500" y="1181100"/>
            <a:ext cx="11049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468" name=""/>
          <p:cNvSpPr/>
          <p:nvPr/>
        </p:nvSpPr>
        <p:spPr>
          <a:xfrm rot="0" flipH="0" flipV="0">
            <a:off x="571500" y="1381125"/>
            <a:ext cx="5905500" cy="4905375"/>
          </a:xfrm>
          <a:prstGeom prst="roundRect">
            <a:avLst>
              <a:gd name="adj" fmla="val 1942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762000" y="2219325"/>
            <a:ext cx="5524500" cy="32289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E2E8F0"/>
                </a:solidFill>
                <a:latin typeface="Consolas"/>
                <a:ea typeface="Consolas"/>
              </a:rPr>
              <a:t>【任务】为</a:t>
            </a:r>
            <a:r>
              <a:rPr lang="en-US" sz="975">
                <a:solidFill>
                  <a:srgbClr val="E2E8F0"/>
                </a:solidFill>
                <a:latin typeface="Consolas"/>
                <a:ea typeface="Consolas"/>
              </a:rPr>
              <a:t>"</a:t>
            </a:r>
            <a:r>
              <a:rPr lang="zh-CN" sz="975">
                <a:solidFill>
                  <a:srgbClr val="E2E8F0"/>
                </a:solidFill>
                <a:latin typeface="Consolas"/>
                <a:ea typeface="Consolas"/>
              </a:rPr>
              <a:t>校园跑腿</a:t>
            </a:r>
            <a:r>
              <a:rPr lang="en-US" sz="975">
                <a:solidFill>
                  <a:srgbClr val="E2E8F0"/>
                </a:solidFill>
                <a:latin typeface="Consolas"/>
                <a:ea typeface="Consolas"/>
              </a:rPr>
              <a:t>"</a:t>
            </a:r>
            <a:r>
              <a:rPr lang="zh-CN" sz="975">
                <a:solidFill>
                  <a:srgbClr val="E2E8F0"/>
                </a:solidFill>
                <a:latin typeface="Consolas"/>
                <a:ea typeface="Consolas"/>
              </a:rPr>
              <a:t>订单系统做架构设计，只输出</a:t>
            </a:r>
            <a:r>
              <a:rPr lang="en-US" sz="975">
                <a:solidFill>
                  <a:srgbClr val="E2E8F0"/>
                </a:solidFill>
                <a:latin typeface="Consolas"/>
                <a:ea typeface="Consolas"/>
              </a:rPr>
              <a:t xml:space="preserve"> 5 </a:t>
            </a:r>
            <a:r>
              <a:rPr lang="zh-CN" sz="975">
                <a:solidFill>
                  <a:srgbClr val="E2E8F0"/>
                </a:solidFill>
                <a:latin typeface="Consolas"/>
                <a:ea typeface="Consolas"/>
              </a:rPr>
              <a:t xml:space="preserve">项，不要写代码：
</a:t>
            </a:r>
            <a:r>
              <a:rPr lang="en-US" sz="975">
                <a:solidFill>
                  <a:srgbClr val="E2E8F0"/>
                </a:solidFill>
                <a:latin typeface="Consolas"/>
                <a:ea typeface="Consolas"/>
              </a:rPr>
              <a:t xml:space="preserve">1. </a:t>
            </a:r>
            <a:r>
              <a:rPr lang="zh-CN" sz="975">
                <a:solidFill>
                  <a:srgbClr val="E2E8F0"/>
                </a:solidFill>
                <a:latin typeface="Consolas"/>
                <a:ea typeface="Consolas"/>
              </a:rPr>
              <a:t>模块划分：职责</a:t>
            </a:r>
            <a:r>
              <a:rPr lang="en-US" sz="975">
                <a:solidFill>
                  <a:srgbClr val="E2E8F0"/>
                </a:solidFill>
                <a:latin typeface="Consolas"/>
                <a:ea typeface="Consolas"/>
              </a:rPr>
              <a:t xml:space="preserve"> + </a:t>
            </a:r>
            <a:r>
              <a:rPr lang="zh-CN" sz="975">
                <a:solidFill>
                  <a:srgbClr val="E2E8F0"/>
                </a:solidFill>
                <a:latin typeface="Consolas"/>
                <a:ea typeface="Consolas"/>
              </a:rPr>
              <a:t>边界</a:t>
            </a:r>
            <a:r>
              <a:rPr lang="en-US" sz="975">
                <a:solidFill>
                  <a:srgbClr val="E2E8F0"/>
                </a:solidFill>
                <a:latin typeface="Consolas"/>
                <a:ea typeface="Consolas"/>
              </a:rPr>
              <a:t xml:space="preserve"> + </a:t>
            </a:r>
            <a:r>
              <a:rPr lang="zh-CN" sz="975">
                <a:solidFill>
                  <a:srgbClr val="E2E8F0"/>
                </a:solidFill>
                <a:latin typeface="Consolas"/>
                <a:ea typeface="Consolas"/>
              </a:rPr>
              <a:t>纯函数</a:t>
            </a:r>
            <a:r>
              <a:rPr lang="en-US" sz="975">
                <a:solidFill>
                  <a:srgbClr val="E2E8F0"/>
                </a:solidFill>
                <a:latin typeface="Consolas"/>
                <a:ea typeface="Consolas"/>
              </a:rPr>
              <a:t xml:space="preserve">/IO
2. </a:t>
            </a:r>
            <a:r>
              <a:rPr lang="zh-CN" sz="975">
                <a:solidFill>
                  <a:srgbClr val="E2E8F0"/>
                </a:solidFill>
                <a:latin typeface="Consolas"/>
                <a:ea typeface="Consolas"/>
              </a:rPr>
              <a:t>核心表</a:t>
            </a:r>
            <a:r>
              <a:rPr lang="en-US" sz="975">
                <a:solidFill>
                  <a:srgbClr val="E2E8F0"/>
                </a:solidFill>
                <a:latin typeface="Consolas"/>
                <a:ea typeface="Consolas"/>
              </a:rPr>
              <a:t xml:space="preserve"> DDL </a:t>
            </a:r>
            <a:r>
              <a:rPr lang="zh-CN" sz="975">
                <a:solidFill>
                  <a:srgbClr val="E2E8F0"/>
                </a:solidFill>
                <a:latin typeface="Consolas"/>
                <a:ea typeface="Consolas"/>
              </a:rPr>
              <a:t xml:space="preserve">要点（字段、类型、约束）
</a:t>
            </a:r>
            <a:r>
              <a:rPr lang="en-US" sz="975">
                <a:solidFill>
                  <a:srgbClr val="E2E8F0"/>
                </a:solidFill>
                <a:latin typeface="Consolas"/>
                <a:ea typeface="Consolas"/>
              </a:rPr>
              <a:t xml:space="preserve">3. </a:t>
            </a:r>
            <a:r>
              <a:rPr lang="zh-CN" sz="975">
                <a:solidFill>
                  <a:srgbClr val="E2E8F0"/>
                </a:solidFill>
                <a:latin typeface="Consolas"/>
                <a:ea typeface="Consolas"/>
              </a:rPr>
              <a:t>索引清单：每条必须写</a:t>
            </a:r>
            <a:r>
              <a:rPr lang="en-US" sz="975">
                <a:solidFill>
                  <a:srgbClr val="E2E8F0"/>
                </a:solidFill>
                <a:latin typeface="Consolas"/>
                <a:ea typeface="Consolas"/>
              </a:rPr>
              <a:t>"</a:t>
            </a:r>
            <a:r>
              <a:rPr lang="zh-CN" sz="975">
                <a:solidFill>
                  <a:srgbClr val="E2E8F0"/>
                </a:solidFill>
                <a:latin typeface="Consolas"/>
                <a:ea typeface="Consolas"/>
              </a:rPr>
              <a:t>服务哪个查询</a:t>
            </a:r>
            <a:r>
              <a:rPr lang="en-US" sz="975">
                <a:solidFill>
                  <a:srgbClr val="E2E8F0"/>
                </a:solidFill>
                <a:latin typeface="Consolas"/>
                <a:ea typeface="Consolas"/>
              </a:rPr>
              <a:t xml:space="preserve">"
4. </a:t>
            </a:r>
            <a:r>
              <a:rPr lang="zh-CN" sz="975">
                <a:solidFill>
                  <a:srgbClr val="E2E8F0"/>
                </a:solidFill>
                <a:latin typeface="Consolas"/>
                <a:ea typeface="Consolas"/>
              </a:rPr>
              <a:t>并发分析：每个竞争点</a:t>
            </a:r>
            <a:r>
              <a:rPr lang="en-US" sz="975">
                <a:solidFill>
                  <a:srgbClr val="E2E8F0"/>
                </a:solidFill>
                <a:latin typeface="Consolas"/>
                <a:ea typeface="Consolas"/>
              </a:rPr>
              <a:t xml:space="preserve"> + </a:t>
            </a:r>
            <a:r>
              <a:rPr lang="zh-CN" sz="975">
                <a:solidFill>
                  <a:srgbClr val="E2E8F0"/>
                </a:solidFill>
                <a:latin typeface="Consolas"/>
                <a:ea typeface="Consolas"/>
              </a:rPr>
              <a:t>机制</a:t>
            </a:r>
            <a:r>
              <a:rPr lang="en-US" sz="975">
                <a:solidFill>
                  <a:srgbClr val="E2E8F0"/>
                </a:solidFill>
                <a:latin typeface="Consolas"/>
                <a:ea typeface="Consolas"/>
              </a:rPr>
              <a:t xml:space="preserve"> + </a:t>
            </a:r>
            <a:r>
              <a:rPr lang="zh-CN" sz="975">
                <a:solidFill>
                  <a:srgbClr val="E2E8F0"/>
                </a:solidFill>
                <a:latin typeface="Consolas"/>
                <a:ea typeface="Consolas"/>
              </a:rPr>
              <a:t xml:space="preserve">为什么
</a:t>
            </a:r>
            <a:r>
              <a:rPr lang="en-US" sz="975">
                <a:solidFill>
                  <a:srgbClr val="E2E8F0"/>
                </a:solidFill>
                <a:latin typeface="Consolas"/>
                <a:ea typeface="Consolas"/>
              </a:rPr>
              <a:t xml:space="preserve">5. </a:t>
            </a:r>
            <a:r>
              <a:rPr lang="zh-CN" sz="975">
                <a:solidFill>
                  <a:srgbClr val="E2E8F0"/>
                </a:solidFill>
                <a:latin typeface="Consolas"/>
                <a:ea typeface="Consolas"/>
              </a:rPr>
              <a:t>明确的</a:t>
            </a:r>
            <a:r>
              <a:rPr lang="en-US" sz="975">
                <a:solidFill>
                  <a:srgbClr val="E2E8F0"/>
                </a:solidFill>
                <a:latin typeface="Consolas"/>
                <a:ea typeface="Consolas"/>
              </a:rPr>
              <a:t>"</a:t>
            </a:r>
            <a:r>
              <a:rPr lang="zh-CN" sz="975">
                <a:solidFill>
                  <a:srgbClr val="E2E8F0"/>
                </a:solidFill>
                <a:latin typeface="Consolas"/>
                <a:ea typeface="Consolas"/>
              </a:rPr>
              <a:t>不做</a:t>
            </a:r>
            <a:r>
              <a:rPr lang="en-US" sz="975">
                <a:solidFill>
                  <a:srgbClr val="E2E8F0"/>
                </a:solidFill>
                <a:latin typeface="Consolas"/>
                <a:ea typeface="Consolas"/>
              </a:rPr>
              <a:t>"</a:t>
            </a:r>
            <a:r>
              <a:rPr lang="zh-CN" sz="975">
                <a:solidFill>
                  <a:srgbClr val="E2E8F0"/>
                </a:solidFill>
                <a:latin typeface="Consolas"/>
                <a:ea typeface="Consolas"/>
              </a:rPr>
              <a:t>清单</a:t>
            </a:r>
            <a:r>
              <a:rPr lang="en-US" sz="975">
                <a:solidFill>
                  <a:srgbClr val="E2E8F0"/>
                </a:solidFill>
                <a:latin typeface="Consolas"/>
                <a:ea typeface="Consolas"/>
              </a:rPr>
              <a:t xml:space="preserve"> + </a:t>
            </a:r>
            <a:r>
              <a:rPr lang="zh-CN" sz="975">
                <a:solidFill>
                  <a:srgbClr val="E2E8F0"/>
                </a:solidFill>
                <a:latin typeface="Consolas"/>
                <a:ea typeface="Consolas"/>
              </a:rPr>
              <a:t xml:space="preserve">不做的后果
【约束】
</a:t>
            </a:r>
            <a:r>
              <a:rPr lang="en-US" sz="975">
                <a:solidFill>
                  <a:srgbClr val="E2E8F0"/>
                </a:solidFill>
                <a:latin typeface="Consolas"/>
                <a:ea typeface="Consolas"/>
              </a:rPr>
              <a:t xml:space="preserve">- </a:t>
            </a:r>
            <a:r>
              <a:rPr lang="zh-CN" sz="975">
                <a:solidFill>
                  <a:srgbClr val="E2E8F0"/>
                </a:solidFill>
                <a:latin typeface="Consolas"/>
                <a:ea typeface="Consolas"/>
              </a:rPr>
              <a:t>不引入消息队列、微服务、</a:t>
            </a:r>
            <a:r>
              <a:rPr lang="en-US" sz="975">
                <a:solidFill>
                  <a:srgbClr val="E2E8F0"/>
                </a:solidFill>
                <a:latin typeface="Consolas"/>
                <a:ea typeface="Consolas"/>
              </a:rPr>
              <a:t xml:space="preserve">CQRS
- </a:t>
            </a:r>
            <a:r>
              <a:rPr lang="zh-CN" sz="975">
                <a:solidFill>
                  <a:srgbClr val="E2E8F0"/>
                </a:solidFill>
                <a:latin typeface="Consolas"/>
                <a:ea typeface="Consolas"/>
              </a:rPr>
              <a:t>每个决定给</a:t>
            </a:r>
            <a:r>
              <a:rPr lang="en-US" sz="975">
                <a:solidFill>
                  <a:srgbClr val="E2E8F0"/>
                </a:solidFill>
                <a:latin typeface="Consolas"/>
                <a:ea typeface="Consolas"/>
              </a:rPr>
              <a:t>"</a:t>
            </a:r>
            <a:r>
              <a:rPr lang="zh-CN" sz="975">
                <a:solidFill>
                  <a:srgbClr val="E2E8F0"/>
                </a:solidFill>
                <a:latin typeface="Consolas"/>
                <a:ea typeface="Consolas"/>
              </a:rPr>
              <a:t>为什么不用另一个方案</a:t>
            </a:r>
            <a:r>
              <a:rPr lang="en-US" sz="975">
                <a:solidFill>
                  <a:srgbClr val="E2E8F0"/>
                </a:solidFill>
                <a:latin typeface="Consolas"/>
                <a:ea typeface="Consolas"/>
              </a:rPr>
              <a:t xml:space="preserve">"
- </a:t>
            </a:r>
            <a:r>
              <a:rPr lang="zh-CN" sz="975">
                <a:solidFill>
                  <a:srgbClr val="E2E8F0"/>
                </a:solidFill>
                <a:latin typeface="Consolas"/>
                <a:ea typeface="Consolas"/>
              </a:rPr>
              <a:t>信息不足列到</a:t>
            </a:r>
            <a:r>
              <a:rPr lang="en-US" sz="975">
                <a:solidFill>
                  <a:srgbClr val="E2E8F0"/>
                </a:solidFill>
                <a:latin typeface="Consolas"/>
                <a:ea typeface="Consolas"/>
              </a:rPr>
              <a:t>"</a:t>
            </a:r>
            <a:r>
              <a:rPr lang="zh-CN" sz="975">
                <a:solidFill>
                  <a:srgbClr val="E2E8F0"/>
                </a:solidFill>
                <a:latin typeface="Consolas"/>
                <a:ea typeface="Consolas"/>
              </a:rPr>
              <a:t>待确认</a:t>
            </a:r>
            <a:r>
              <a:rPr lang="en-US" sz="975">
                <a:solidFill>
                  <a:srgbClr val="E2E8F0"/>
                </a:solidFill>
                <a:latin typeface="Consolas"/>
                <a:ea typeface="Consolas"/>
              </a:rPr>
              <a:t>"</a:t>
            </a:r>
            <a:r>
              <a:rPr lang="zh-CN" sz="975">
                <a:solidFill>
                  <a:srgbClr val="E2E8F0"/>
                </a:solidFill>
                <a:latin typeface="Consolas"/>
                <a:ea typeface="Consolas"/>
              </a:rPr>
              <a:t>，不要自己假设
【格式】表格优先，写</a:t>
            </a:r>
            <a:r>
              <a:rPr lang="en-US" sz="975">
                <a:solidFill>
                  <a:srgbClr val="E2E8F0"/>
                </a:solidFill>
                <a:latin typeface="Consolas"/>
                <a:ea typeface="Consolas"/>
              </a:rPr>
              <a:t>"</a:t>
            </a:r>
            <a:r>
              <a:rPr lang="zh-CN" sz="975">
                <a:solidFill>
                  <a:srgbClr val="E2E8F0"/>
                </a:solidFill>
                <a:latin typeface="Consolas"/>
                <a:ea typeface="Consolas"/>
              </a:rPr>
              <a:t>因为…所以…</a:t>
            </a:r>
            <a:r>
              <a:rPr lang="en-US" sz="975">
                <a:solidFill>
                  <a:srgbClr val="E2E8F0"/>
                </a:solidFill>
                <a:latin typeface="Consolas"/>
                <a:ea typeface="Consolas"/>
              </a:rPr>
              <a:t>"</a:t>
            </a:r>
            <a:r>
              <a:rPr lang="zh-CN" sz="975">
                <a:solidFill>
                  <a:srgbClr val="E2E8F0"/>
                </a:solidFill>
                <a:latin typeface="Consolas"/>
                <a:ea typeface="Consolas"/>
              </a:rPr>
              <a:t>，
不要写</a:t>
            </a:r>
            <a:r>
              <a:rPr lang="en-US" sz="975">
                <a:solidFill>
                  <a:srgbClr val="E2E8F0"/>
                </a:solidFill>
                <a:latin typeface="Consolas"/>
                <a:ea typeface="Consolas"/>
              </a:rPr>
              <a:t>"</a:t>
            </a:r>
            <a:r>
              <a:rPr lang="zh-CN" sz="975">
                <a:solidFill>
                  <a:srgbClr val="E2E8F0"/>
                </a:solidFill>
                <a:latin typeface="Consolas"/>
                <a:ea typeface="Consolas"/>
              </a:rPr>
              <a:t>最佳实践</a:t>
            </a:r>
            <a:r>
              <a:rPr lang="en-US" sz="975">
                <a:solidFill>
                  <a:srgbClr val="E2E8F0"/>
                </a:solidFill>
                <a:latin typeface="Consolas"/>
                <a:ea typeface="Consolas"/>
              </a:rPr>
              <a:t>"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6705600" y="2247900"/>
            <a:ext cx="49149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 b="1">
                <a:solidFill>
                  <a:srgbClr val="2563EB"/>
                </a:solidFill>
                <a:latin typeface="Microsoft YaHei"/>
                <a:ea typeface="Microsoft YaHei"/>
              </a:rPr>
              <a:t>「只输出</a:t>
            </a:r>
            <a:r>
              <a:rPr lang="en-US" sz="120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200" b="1">
                <a:solidFill>
                  <a:srgbClr val="2563EB"/>
                </a:solidFill>
                <a:latin typeface="Microsoft YaHei"/>
                <a:ea typeface="Microsoft YaHei"/>
              </a:rPr>
              <a:t>项，不要代码」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6705600" y="2524125"/>
            <a:ext cx="49149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防它跳过架构直接写代码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6705600" y="2905125"/>
            <a:ext cx="49149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 b="1">
                <a:solidFill>
                  <a:srgbClr val="2563EB"/>
                </a:solidFill>
                <a:latin typeface="Microsoft YaHei"/>
                <a:ea typeface="Microsoft YaHei"/>
              </a:rPr>
              <a:t>「每条索引写服务哪个查询」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6705600" y="3181350"/>
            <a:ext cx="49149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防它堆一堆看似专业的索引</a:t>
            </a:r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6705600" y="3562350"/>
            <a:ext cx="49149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 b="1">
                <a:solidFill>
                  <a:srgbClr val="2563EB"/>
                </a:solidFill>
                <a:latin typeface="Microsoft YaHei"/>
                <a:ea typeface="Microsoft YaHei"/>
              </a:rPr>
              <a:t>「为什么不用另一个方案」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6705600" y="3838575"/>
            <a:ext cx="49149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防套话——必须说出被否掉的方案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6705600" y="4219575"/>
            <a:ext cx="49149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 b="1">
                <a:solidFill>
                  <a:srgbClr val="2563EB"/>
                </a:solidFill>
                <a:latin typeface="Microsoft YaHei"/>
                <a:ea typeface="Microsoft YaHei"/>
              </a:rPr>
              <a:t>「信息不足列待确认」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6705600" y="4495800"/>
            <a:ext cx="49149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防编造——救了我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处没想过的点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6705600" y="4914900"/>
            <a:ext cx="4914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这四条约束决定了输出质量。实际效果：一次输出里有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处「待确认」是我确实没想过的——在途单上限、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Redis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DB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谁权威、争议恢复后超时怎么算。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479" name="" descr="&lt;Slide style={{ padding: 60, background: '#FFFFFF' }}&gt;&#10;  &lt;Box style={{ flexDirection: 'column', gap: 12, marginBottom: 24 }}&gt;&#10;    &lt;Text style={{ fontSize: 36, fontWeight: 'bold', color: '#1E293B', lineHeight: 1.2 }}&gt;&#10;      阶段③ 骨架：一次只搭一层，每层都要能跑&#10;    &lt;/Text&gt;&#10;    &lt;Box style={{ width: '100%', height: 1, background: '#E5E7EB' }} /&gt;&#10;  &lt;/Box&gt;&#10;  &lt;Box style={{ flexDirection: 'column', gap: 14, flex: 1 }}&gt;&#10;    {[&#10;      { n: '1', t: '目录 + 配置 + 日志', d: '一个 /health 能返回 200', c: '#2563EB' },&#10;      { n: '2', t: '数据模型 + 初始迁移', d: 'alembic upgrade head 成功，且能 downgrade base 再回来', c: '#2563EB' },&#10;      { n: '3', t: '错误码 + 统一响应信封', d: '故意抛一个业务异常，返回结构符合信封', c: '#2563EB' },&#10;      { n: '4', t: '游标分页 + 可注入时钟', d: '这两个是以后所有代码都要用的地基', c: '#F59E0B' },&#10;    ].map((l, i) =&gt; (&#10;      &lt;Box key={i} style={{ flexDirection: 'row', alignItems: 'center', gap: 16 }}&gt;&#10;        &lt;Box style={{ width: 40, height: 40, background: l.c, borderRadius: 20, alignItems: 'center', justifyContent: 'center' }}&gt;&#10;          &lt;Text style={{ fontSize: 18, fontWeight: 'bold', color: '#FFFFFF' }}&gt;{l.n}&lt;/Text&gt;&#10;        &lt;/Box&gt;&#10;        &lt;Text style={{ fontSize: 19, fontWeight: 'bold', color: '#1E293B', width: 280, lineHeight: 1.3 }}&gt;{l.t}&lt;/Text&gt;&#10;        &lt;Text style={{ fontSize: 16, color: '#64748B', flex: 1, lineHeight: 1.45 }}&gt;{l.d}&lt;/Text&gt;&#10;      &lt;/Box&gt;&#10;    ))}&#10;  &lt;/Box&gt;&#10;  &lt;Box style={{ background: '#FEF3C7', borderRadius: 8, padding: 16, marginTop: 22 }}&gt;&#10;    &lt;Text style={{ fontSize: 17, color: '#1E293B', lineHeight: 1.5 }}&gt;&#10;      &lt;span style={{ fontWeight: 'bold', color: '#B45309' }}&gt;第 4 层最容易被推迟，代价最大。&lt;/span&gt;错误码晚做，后面每个接口都要回头改；时钟注入晚做，所有关于「45 分钟」的超时逻辑都没法测——因为测试没法让系统认为现在是 45 分钟以后。&#10;    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阶段③</a:t>
            </a:r>
            <a:r>
              <a:rPr lang="en-US" sz="27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骨架：一次只搭一层，每层都要能跑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571500" y="1181100"/>
            <a:ext cx="11049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483" name=""/>
          <p:cNvSpPr/>
          <p:nvPr/>
        </p:nvSpPr>
        <p:spPr>
          <a:xfrm rot="0" flipH="0" flipV="0">
            <a:off x="571500" y="14192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704850" y="15049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1104900" y="1466850"/>
            <a:ext cx="266700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目录</a:t>
            </a:r>
            <a:r>
              <a:rPr lang="en-US" sz="1425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配置</a:t>
            </a:r>
            <a:r>
              <a:rPr lang="en-US" sz="1425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日志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3924300" y="1476375"/>
            <a:ext cx="76962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一个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/health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能返回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200</a:t>
            </a:r>
            <a:endParaRPr/>
          </a:p>
        </p:txBody>
      </p:sp>
      <p:sp>
        <p:nvSpPr>
          <p:cNvPr id="487" name=""/>
          <p:cNvSpPr/>
          <p:nvPr/>
        </p:nvSpPr>
        <p:spPr>
          <a:xfrm rot="0" flipH="0" flipV="0">
            <a:off x="571500" y="19335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704850" y="201930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1104900" y="1981200"/>
            <a:ext cx="266700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数据模型</a:t>
            </a:r>
            <a:r>
              <a:rPr lang="en-US" sz="1425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初始迁移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3924300" y="1990725"/>
            <a:ext cx="76962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alembic upgrade head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成功，且能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downgrade base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再回来</a:t>
            </a:r>
            <a:endParaRPr/>
          </a:p>
        </p:txBody>
      </p:sp>
      <p:sp>
        <p:nvSpPr>
          <p:cNvPr id="491" name=""/>
          <p:cNvSpPr/>
          <p:nvPr/>
        </p:nvSpPr>
        <p:spPr>
          <a:xfrm rot="0" flipH="0" flipV="0">
            <a:off x="571500" y="24479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704850" y="25336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1104900" y="2495550"/>
            <a:ext cx="266700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错误码</a:t>
            </a:r>
            <a:r>
              <a:rPr lang="en-US" sz="1425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统一响应信封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3924300" y="2505075"/>
            <a:ext cx="76962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故意抛一个业务异常，返回结构符合信封</a:t>
            </a:r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571500" y="29622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704850" y="304800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1104900" y="3009900"/>
            <a:ext cx="266700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游标分页</a:t>
            </a:r>
            <a:r>
              <a:rPr lang="en-US" sz="1425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可注入时钟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3924300" y="3019425"/>
            <a:ext cx="76962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这两个是以后所有代码都要用的地基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571500" y="5391150"/>
            <a:ext cx="11049000" cy="895350"/>
          </a:xfrm>
          <a:prstGeom prst="roundRect">
            <a:avLst>
              <a:gd name="adj" fmla="val 8511"/>
            </a:avLst>
          </a:prstGeom>
          <a:solidFill>
            <a:srgbClr val="FEF3C7"/>
          </a:solidFill>
          <a:ln/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723900" y="5543550"/>
            <a:ext cx="107442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B45309"/>
                </a:solidFill>
                <a:latin typeface="Microsoft YaHei"/>
                <a:ea typeface="Microsoft YaHei"/>
              </a:rPr>
              <a:t>第</a:t>
            </a:r>
            <a:r>
              <a:rPr lang="en-US" sz="1275" b="1">
                <a:solidFill>
                  <a:srgbClr val="B45309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275" b="1">
                <a:solidFill>
                  <a:srgbClr val="B45309"/>
                </a:solidFill>
                <a:latin typeface="Microsoft YaHei"/>
                <a:ea typeface="Microsoft YaHei"/>
              </a:rPr>
              <a:t>层最容易被推迟，代价最大。</a:t>
            </a: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错误码晚做，后面每个接口都要回头改；时钟注入晚做，所有关于「</a:t>
            </a:r>
            <a:r>
              <a:rPr lang="en-US" sz="1275">
                <a:solidFill>
                  <a:srgbClr val="1E293B"/>
                </a:solidFill>
                <a:latin typeface="Microsoft YaHei"/>
                <a:ea typeface="Microsoft YaHei"/>
              </a:rPr>
              <a:t xml:space="preserve">45 </a:t>
            </a: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分钟」的超时逻辑都没法测——因为测试没法让系统认为现在是</a:t>
            </a:r>
            <a:r>
              <a:rPr lang="en-US" sz="1275">
                <a:solidFill>
                  <a:srgbClr val="1E293B"/>
                </a:solidFill>
                <a:latin typeface="Microsoft YaHei"/>
                <a:ea typeface="Microsoft YaHei"/>
              </a:rPr>
              <a:t xml:space="preserve"> 45 </a:t>
            </a: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分钟以后。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501" name="" descr="&lt;Slide style={{ padding: 60, background: '#FFFFFF' }}&gt;&#10;  &lt;Box style={{ flexDirection: 'column', gap: 12, marginBottom: 20 }}&gt;&#10;    &lt;Text style={{ fontSize: 36, fontWeight: 'bold', color: '#1E293B', lineHeight: 1.2 }}&gt;&#10;      阶段④ 编码：Prompt 2 · 让 AI 写最容易写错的部分&#10;    &lt;/Text&gt;&#10;    &lt;Box style={{ width: '100%', height: 1, background: '#E5E7EB' }} /&gt;&#10;  &lt;/Box&gt;&#10;  &lt;Box style={{ flexDirection: 'row', gap: 24, flex: 1 }}&gt;&#10;    &lt;Box style={{ flex: 1.2, background: '#0F172A', borderRadius: 10, padding: 20, justifyContent: 'center' }}&gt;&#10;      &lt;Text style={{ fontFamily: 'Consolas, monospace', fontSize: 12.5, color: '#E2E8F0', lineHeight: 1.55 }}&gt;&#10;        {'【任务】实现订单状态机守卫，必须是纯函数：\n(order, actor, payload, cfg) -&gt; bool\n不碰数据库、网络、全局时钟\n\n【唯一事实来源】状态迁移表 17 行，\n逐行实现，编号对齐，不许合并、新增\n\n【本次只做两个守卫】\nA. 无责取消(T17)：进行中 + 发单人 +\n   接单人零进度 + 距抢单 &gt;= 45 分钟\nB. 失联投诉(T16)：进行中 + 发单人 +\n   接单人有进度 + 距最后进度 &gt;= 45 分钟\n\n【术语定义】接单人进度 = 动作∈{已取件,\n在路上,已送达,备注} 且 actor=接单人。\n发单人的催单不算进度。\n（否则两个出口同时不可走，比原 bug 更糟）\n\n【边界】45分00秒允许 / 44分59秒拒绝(42201)\n【输出】守卫 + 参数化测试 + 100字注释'}&#10;      &lt;/Text&gt;&#10;    &lt;/Box&gt;&#10;    &lt;Box style={{ flex: 1, flexDirection: 'column', gap: 12, justifyContent: 'center' }}&gt;&#10;      {[&#10;        { c: '纯函数', d: '才能穷举测试，不起数据库' },&#10;        { c: '唯一事实来源', d: '防它顺手「优化」掉一条迁移' },&#10;        { c: '术语定义 + 反例', d: '最关键——写清理解错了会怎样' },&#10;        { c: '边界显式列出', d: '不给边界，它只测 45 分那一秒' },&#10;        { c: '要求输出注释', d: '给三个月后的自己和 review 用' },&#10;      ].map((r, i) =&gt; (&#10;        &lt;Box key={i} style={{ flexDirection: 'row', alignItems: 'baseline', gap: 10 }}&gt;&#10;          &lt;Text style={{ fontSize: 15, color: '#2563EB', fontWeight: 'bold', width: 130, lineHeight: 1.4 }}&gt;{r.c}&lt;/Text&gt;&#10;          &lt;Text style={{ fontSize: 15, color: '#64748B', flex: 1, lineHeight: 1.4 }}&gt;{r.d}&lt;/Text&gt;&#10;        &lt;/Box&gt;&#10;      ))}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阶段④</a:t>
            </a:r>
            <a:r>
              <a:rPr lang="en-US" sz="27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编码：</a:t>
            </a:r>
            <a:r>
              <a:rPr lang="en-US" sz="27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Prompt 2 · </a:t>
            </a: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让</a:t>
            </a:r>
            <a:r>
              <a:rPr lang="en-US" sz="27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写最容易写错的部分</a:t>
            </a:r>
            <a:endParaRPr/>
          </a:p>
        </p:txBody>
      </p:sp>
      <p:sp>
        <p:nvSpPr>
          <p:cNvPr id="504" name=""/>
          <p:cNvSpPr/>
          <p:nvPr/>
        </p:nvSpPr>
        <p:spPr>
          <a:xfrm rot="0" flipH="0" flipV="0">
            <a:off x="571500" y="1181100"/>
            <a:ext cx="11049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505" name=""/>
          <p:cNvSpPr/>
          <p:nvPr/>
        </p:nvSpPr>
        <p:spPr>
          <a:xfrm rot="0" flipH="0" flipV="0">
            <a:off x="571500" y="1381125"/>
            <a:ext cx="5905500" cy="4905375"/>
          </a:xfrm>
          <a:prstGeom prst="roundRect">
            <a:avLst>
              <a:gd name="adj" fmla="val 1942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762000" y="1619250"/>
            <a:ext cx="5524500" cy="4429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 xml:space="preserve">【任务】实现订单状态机守卫，必须是纯函数：
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 xml:space="preserve">(order, actor, payload, cfg) -&gt; bool
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>不碰数据库、网络、全局时钟
【唯一事实来源】状态迁移表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 xml:space="preserve"> 17 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 xml:space="preserve">行，
逐行实现，编号对齐，不许合并、新增
【本次只做两个守卫】
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 xml:space="preserve">A. 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>无责取消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>(T17)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>：进行中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 xml:space="preserve"> + 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>发单人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 xml:space="preserve"> +
   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>接单人零进度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 xml:space="preserve"> + 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>距抢单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 xml:space="preserve"> &gt;= 45 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 xml:space="preserve">分钟
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 xml:space="preserve">B. 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>失联投诉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>(T16)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>：进行中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 xml:space="preserve"> + 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>发单人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 xml:space="preserve"> +
   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>接单人有进度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 xml:space="preserve"> + 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>距最后进度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 xml:space="preserve"> &gt;= 45 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>分钟
【术语定义】接单人进度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 xml:space="preserve"> = 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>动作∈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>{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>已取件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 xml:space="preserve">,
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>在路上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>,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>已送达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>,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>备注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 xml:space="preserve">} 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>且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 xml:space="preserve"> actor=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>接单人。
发单人的催单不算进度。
（否则两个出口同时不可走，比原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 xml:space="preserve"> bug 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>更糟）
【边界】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>45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>分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>00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>秒允许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 xml:space="preserve"> / 44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>分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>59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>秒拒绝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 xml:space="preserve">(42201)
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>【输出】守卫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 xml:space="preserve"> + 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>参数化测试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 xml:space="preserve"> + 100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>字注释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6705600" y="2990850"/>
            <a:ext cx="12382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2563EB"/>
                </a:solidFill>
                <a:latin typeface="Microsoft YaHei"/>
                <a:ea typeface="Microsoft YaHei"/>
              </a:rPr>
              <a:t>纯函数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8039100" y="2990850"/>
            <a:ext cx="35814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才能穷举测试，不起数据库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6705600" y="3352800"/>
            <a:ext cx="12382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2563EB"/>
                </a:solidFill>
                <a:latin typeface="Microsoft YaHei"/>
                <a:ea typeface="Microsoft YaHei"/>
              </a:rPr>
              <a:t>唯一事实来源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8039100" y="3352800"/>
            <a:ext cx="35814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防它顺手「优化」掉一条迁移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6705600" y="3714750"/>
            <a:ext cx="12382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2563EB"/>
                </a:solidFill>
                <a:latin typeface="Microsoft YaHei"/>
                <a:ea typeface="Microsoft YaHei"/>
              </a:rPr>
              <a:t>术语定义</a:t>
            </a:r>
            <a:r>
              <a:rPr lang="en-US" sz="1125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 b="1">
                <a:solidFill>
                  <a:srgbClr val="2563EB"/>
                </a:solidFill>
                <a:latin typeface="Microsoft YaHei"/>
                <a:ea typeface="Microsoft YaHei"/>
              </a:rPr>
              <a:t>反例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8039100" y="3714750"/>
            <a:ext cx="35814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最关键——写清理解错了会怎样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6705600" y="4076700"/>
            <a:ext cx="12382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2563EB"/>
                </a:solidFill>
                <a:latin typeface="Microsoft YaHei"/>
                <a:ea typeface="Microsoft YaHei"/>
              </a:rPr>
              <a:t>边界显式列出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8039100" y="4076700"/>
            <a:ext cx="35814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不给边界，它只测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45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分那一秒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6705600" y="4438650"/>
            <a:ext cx="12382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2563EB"/>
                </a:solidFill>
                <a:latin typeface="Microsoft YaHei"/>
                <a:ea typeface="Microsoft YaHei"/>
              </a:rPr>
              <a:t>要求输出注释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8039100" y="4438650"/>
            <a:ext cx="35814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给三个月后的自己和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review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用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517" name="" descr="&lt;Slide style={{ padding: 60, background: '#FFFFFF' }}&gt;&#10;  &lt;Box style={{ flexDirection: 'column', gap: 12, marginBottom: 20 }}&gt;&#10;    &lt;Text style={{ fontSize: 36, fontWeight: 'bold', color: '#1E293B', lineHeight: 1.2 }}&gt;&#10;      阶段⑤ 验证：它会给你发合格证，签发人也是它&#10;    &lt;/Text&gt;&#10;    &lt;Box style={{ width: '100%', height: 1, background: '#E5E7EB' }} /&gt;&#10;  &lt;/Box&gt;&#10;  &lt;Box style={{ flexDirection: 'row', gap: 16, flex: 1 }}&gt;&#10;    {[&#10;      { s: '「测试全部通过」', m: '它写的测试通过了', c: '低', w: '它会绕过自己实现不了的东西', col: '#DC2626' },&#10;      { s: '「已处理边界情况」', m: '它想到了 45 分钟', c: '中', w: '没想到 44 分 59 秒和从未被抢单', col: '#F59E0B' },&#10;      { s: '「符合最佳实践」', m: '训练数据里有类似代码', c: '很低', w: '这类话没有任何信息量', col: '#94A3B8' },&#10;    ].map((r, i) =&gt; (&#10;      &lt;Box key={i} style={{ flex: 1, background: '#F8FAFC', border: '1px solid #E5E7EB', borderRadius: 10, padding: 20, gap: 10 }}&gt;&#10;        &lt;Text style={{ fontSize: 17, fontWeight: 'bold', color: '#1E293B', lineHeight: 1.35 }}&gt;{r.s}&lt;/Text&gt;&#10;        &lt;Text style={{ fontSize: 15, color: '#64748B', lineHeight: 1.45 }}&gt;{r.m}&lt;/Text&gt;&#10;        &lt;Box style={{ flexDirection: 'row', alignItems: 'baseline', gap: 6 }}&gt;&#10;          &lt;Text style={{ fontSize: 28, fontWeight: 'bold', color: r.col, lineHeight: 1 }}&gt;{r.c}&lt;/Text&gt;&#10;          &lt;Text style={{ fontSize: 14, color: '#94A3B8' }}&gt;可信度&lt;/Text&gt;&#10;        &lt;/Box&gt;&#10;        &lt;Text style={{ fontSize: 14, color: '#64748B', lineHeight: 1.4 }}&gt;{r.w}&lt;/Text&gt;&#10;      &lt;/Box&gt;&#10;    ))}&#10;  &lt;/Box&gt;&#10;  &lt;Box style={{ background: '#EFF6FF', borderRadius: 8, padding: 16, marginTop: 20 }}&gt;&#10;    &lt;Text style={{ fontSize: 16, color: '#1E293B', lineHeight: 1.5 }}&gt;&#10;      结构性原因：它验证的是&lt;span style={{ fontWeight: 'bold' }}&gt;代码的自洽性&lt;/span&gt;，不是&lt;span style={{ fontWeight: 'bold' }}&gt;环境的约束&lt;/span&gt;。它用内存替身绕过真实依赖，而 bug 常常藏在被绕过的那个地方——它没有「这一列多宽」这种记忆。&#10;    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阶段⑤</a:t>
            </a:r>
            <a:r>
              <a:rPr lang="en-US" sz="27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验证：它会给你发合格证，签发人也是它</a:t>
            </a:r>
            <a:endParaRPr/>
          </a:p>
        </p:txBody>
      </p:sp>
      <p:sp>
        <p:nvSpPr>
          <p:cNvPr id="520" name=""/>
          <p:cNvSpPr/>
          <p:nvPr/>
        </p:nvSpPr>
        <p:spPr>
          <a:xfrm rot="0" flipH="0" flipV="0">
            <a:off x="571500" y="1181100"/>
            <a:ext cx="11049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521" name=""/>
          <p:cNvSpPr/>
          <p:nvPr/>
        </p:nvSpPr>
        <p:spPr>
          <a:xfrm rot="0" flipH="0" flipV="0">
            <a:off x="571500" y="1381125"/>
            <a:ext cx="3581400" cy="3857625"/>
          </a:xfrm>
          <a:prstGeom prst="roundRect">
            <a:avLst>
              <a:gd name="adj" fmla="val 266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762000" y="1571625"/>
            <a:ext cx="3200400" cy="2667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75" b="1">
                <a:solidFill>
                  <a:srgbClr val="1E293B"/>
                </a:solidFill>
                <a:latin typeface="Microsoft YaHei"/>
                <a:ea typeface="Microsoft YaHei"/>
              </a:rPr>
              <a:t>「测试全部通过」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762000" y="1933575"/>
            <a:ext cx="32004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它写的测试通过了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762000" y="2286000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DC2626"/>
                </a:solidFill>
                <a:latin typeface="Microsoft YaHei"/>
                <a:ea typeface="Microsoft YaHei"/>
              </a:rPr>
              <a:t>低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1085850" y="2286000"/>
            <a:ext cx="4000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可信度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762000" y="2705100"/>
            <a:ext cx="32004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它会绕过自己实现不了的东西</a:t>
            </a:r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4305300" y="1381125"/>
            <a:ext cx="3581400" cy="3857625"/>
          </a:xfrm>
          <a:prstGeom prst="roundRect">
            <a:avLst>
              <a:gd name="adj" fmla="val 266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4495800" y="1571625"/>
            <a:ext cx="3200400" cy="2667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75" b="1">
                <a:solidFill>
                  <a:srgbClr val="1E293B"/>
                </a:solidFill>
                <a:latin typeface="Microsoft YaHei"/>
                <a:ea typeface="Microsoft YaHei"/>
              </a:rPr>
              <a:t>「已处理边界情况」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4495800" y="1933575"/>
            <a:ext cx="32004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它想到了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45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4495800" y="2286000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59E0B"/>
                </a:solidFill>
                <a:latin typeface="Microsoft YaHei"/>
                <a:ea typeface="Microsoft YaHei"/>
              </a:rPr>
              <a:t>中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4819650" y="2286000"/>
            <a:ext cx="4000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可信度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4495800" y="2705100"/>
            <a:ext cx="32004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没想到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44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分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59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秒和从未被抢单</a:t>
            </a:r>
            <a:endParaRPr/>
          </a:p>
        </p:txBody>
      </p:sp>
      <p:sp>
        <p:nvSpPr>
          <p:cNvPr id="533" name=""/>
          <p:cNvSpPr/>
          <p:nvPr/>
        </p:nvSpPr>
        <p:spPr>
          <a:xfrm rot="0" flipH="0" flipV="0">
            <a:off x="8039100" y="1381125"/>
            <a:ext cx="3581400" cy="3857625"/>
          </a:xfrm>
          <a:prstGeom prst="roundRect">
            <a:avLst>
              <a:gd name="adj" fmla="val 266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8229600" y="1571625"/>
            <a:ext cx="3200400" cy="2667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75" b="1">
                <a:solidFill>
                  <a:srgbClr val="1E293B"/>
                </a:solidFill>
                <a:latin typeface="Microsoft YaHei"/>
                <a:ea typeface="Microsoft YaHei"/>
              </a:rPr>
              <a:t>「符合最佳实践」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8229600" y="1933575"/>
            <a:ext cx="32004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训练数据里有类似代码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8229600" y="2286000"/>
            <a:ext cx="533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94A3B8"/>
                </a:solidFill>
                <a:latin typeface="Microsoft YaHei"/>
                <a:ea typeface="Microsoft YaHei"/>
              </a:rPr>
              <a:t>很低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8820150" y="2286000"/>
            <a:ext cx="4000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可信度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8229600" y="2705100"/>
            <a:ext cx="32004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这类话没有任何信息量</a:t>
            </a:r>
            <a:endParaRPr/>
          </a:p>
        </p:txBody>
      </p:sp>
      <p:sp>
        <p:nvSpPr>
          <p:cNvPr id="539" name=""/>
          <p:cNvSpPr/>
          <p:nvPr/>
        </p:nvSpPr>
        <p:spPr>
          <a:xfrm rot="0" flipH="0" flipV="0">
            <a:off x="571500" y="5429250"/>
            <a:ext cx="11049000" cy="85725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723900" y="5581650"/>
            <a:ext cx="10744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结构性原因：它验证的是</a:t>
            </a: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代码的自洽性</a:t>
            </a: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，不是</a:t>
            </a: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环境的约束</a:t>
            </a: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。它用内存替身绕过真实依赖，而</a:t>
            </a:r>
            <a:r>
              <a:rPr lang="en-US" sz="1200">
                <a:solidFill>
                  <a:srgbClr val="1E293B"/>
                </a:solidFill>
                <a:latin typeface="Microsoft YaHei"/>
                <a:ea typeface="Microsoft YaHei"/>
              </a:rPr>
              <a:t xml:space="preserve"> bug </a:t>
            </a: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常常藏在被绕过的那个地方——它没有「这一列多宽」这种记忆。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2" name="" descr="&lt;Slide style={{ padding: 60, background: '#0F172A' }}&gt;&#10;  &lt;Box style={{ flexDirection: 'column', gap: 8, marginBottom: 22 }}&gt;&#10;    &lt;Text style={{ fontSize: 15, color: '#64748B', letterSpacing: 2 }}&gt;&#10;      真实案例复盘&#10;    &lt;/Text&gt;&#10;    &lt;Text style={{ fontSize: 36, fontWeight: 'bold', color: '#FFFFFF', lineHeight: 1.2 }}&gt;&#10;      三个 bug 都不在函数里，在函数与函数之间&#10;    &lt;/Text&gt;&#10;    &lt;Box style={{ width: '100%', height: 1, background: '#1E293B' }} /&gt;&#10;  &lt;/Box&gt;&#10;  &lt;Box style={{ flexDirection: 'column', gap: 10, flex: 1 }}&gt;&#10;    {[&#10;      { n: '1', name: '列宽太窄', s: '真库 INSERT 直接报错', w: '内存替身不校验列宽', hot: false },&#10;      { n: '2', name: '在途上限失效', s: '已有 3 单还能抢第 4 单', w: '测试手填上下文，没走真实 SQL', hot: false },&#10;      { n: '3', name: '发单不落库', s: '接口 201，刷新后数据消失', w: '测试绕过 HTTP 层，测不到事务边界', hot: true },&#10;    ].map((r, i) =&gt; (&#10;      &lt;Box key={i} style={{ flexDirection: 'row', gap: 14, alignItems: 'center', background: r.hot ? '#2A1414' : '#1E293B', border: `1px solid ${r.hot ? '#FCA5A5' : '#334155'}`, borderRadius: 8, padding: 13 }}&gt;&#10;        &lt;Text style={{ width: 30, fontSize: 20, fontWeight: 'bold', color: r.hot ? '#FCA5A5' : '#64748B' }}&gt;{r.n}&lt;/Text&gt;&#10;        &lt;Text style={{ width: 160, fontSize: 18, fontWeight: 'bold', color: '#FFFFFF', lineHeight: 1.3 }}&gt;{r.name}&lt;/Text&gt;&#10;        &lt;Text style={{ flex: 1, fontSize: 16, color: '#E2E8F0', lineHeight: 1.4 }}&gt;{r.s}&lt;/Text&gt;&#10;        &lt;Text style={{ width: 260, fontSize: 15, color: '#94A3B8', lineHeight: 1.4 }}&gt;{r.w}&lt;/Text&gt;&#10;      &lt;/Box&gt;&#10;    ))}&#10;  &lt;/Box&gt;&#10;  &lt;Box style={{ marginTop: 22, alignItems: 'center', gap: 6 }}&gt;&#10;    &lt;Text style={{ fontSize: 24, fontWeight: 'bold', color: '#F59E0B', lineHeight: 1.4, textAlign: 'center' }}&gt;&#10;      它们分别在「代码与数据库」「两次 SQL」「请求与事务」之间&#10;    &lt;/Text&gt;&#10;    &lt;Text style={{ fontSize: 16, color: '#94A3B8', lineHeight: 1.4, textAlign: 'center' }}&gt;&#10;      而这三处，恰好都是单元测试的盲区——因为它天然会绕开这些边界。&#10;    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64748B"/>
                </a:solidFill>
                <a:latin typeface="Microsoft YaHei"/>
                <a:ea typeface="Microsoft YaHei"/>
              </a:rPr>
              <a:t>真实案例复盘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71500" y="81915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FFFFFF"/>
                </a:solidFill>
                <a:latin typeface="Microsoft YaHei"/>
                <a:ea typeface="Microsoft YaHei"/>
              </a:rPr>
              <a:t>三个</a:t>
            </a:r>
            <a:r>
              <a:rPr lang="en-US" sz="27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bug </a:t>
            </a:r>
            <a:r>
              <a:rPr lang="zh-CN" sz="2700" b="1">
                <a:solidFill>
                  <a:srgbClr val="FFFFFF"/>
                </a:solidFill>
                <a:latin typeface="Microsoft YaHei"/>
                <a:ea typeface="Microsoft YaHei"/>
              </a:rPr>
              <a:t>都不在函数里，在函数与函数之间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571500" y="1390650"/>
            <a:ext cx="11049000" cy="952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571500" y="1609725"/>
            <a:ext cx="11049000" cy="523875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95325" y="1762125"/>
            <a:ext cx="285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64748B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114425" y="1733550"/>
            <a:ext cx="152400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列宽太窄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2771775" y="1743075"/>
            <a:ext cx="61150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E2E8F0"/>
                </a:solidFill>
                <a:latin typeface="Microsoft YaHei"/>
                <a:ea typeface="Microsoft YaHei"/>
              </a:rPr>
              <a:t>真库</a:t>
            </a:r>
            <a:r>
              <a:rPr lang="en-US" sz="1200">
                <a:solidFill>
                  <a:srgbClr val="E2E8F0"/>
                </a:solidFill>
                <a:latin typeface="Microsoft YaHei"/>
                <a:ea typeface="Microsoft YaHei"/>
              </a:rPr>
              <a:t xml:space="preserve"> INSERT </a:t>
            </a:r>
            <a:r>
              <a:rPr lang="zh-CN" sz="1200">
                <a:solidFill>
                  <a:srgbClr val="E2E8F0"/>
                </a:solidFill>
                <a:latin typeface="Microsoft YaHei"/>
                <a:ea typeface="Microsoft YaHei"/>
              </a:rPr>
              <a:t>直接报错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9020175" y="1752600"/>
            <a:ext cx="24765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内存替身不校验列宽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571500" y="2228850"/>
            <a:ext cx="11049000" cy="523875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95325" y="2381250"/>
            <a:ext cx="285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64748B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114425" y="2352675"/>
            <a:ext cx="152400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在途上限失效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2771775" y="2362200"/>
            <a:ext cx="61150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E2E8F0"/>
                </a:solidFill>
                <a:latin typeface="Microsoft YaHei"/>
                <a:ea typeface="Microsoft YaHei"/>
              </a:rPr>
              <a:t>已有</a:t>
            </a:r>
            <a:r>
              <a:rPr lang="en-US" sz="1200">
                <a:solidFill>
                  <a:srgbClr val="E2E8F0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200">
                <a:solidFill>
                  <a:srgbClr val="E2E8F0"/>
                </a:solidFill>
                <a:latin typeface="Microsoft YaHei"/>
                <a:ea typeface="Microsoft YaHei"/>
              </a:rPr>
              <a:t>单还能抢第</a:t>
            </a:r>
            <a:r>
              <a:rPr lang="en-US" sz="1200">
                <a:solidFill>
                  <a:srgbClr val="E2E8F0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200">
                <a:solidFill>
                  <a:srgbClr val="E2E8F0"/>
                </a:solidFill>
                <a:latin typeface="Microsoft YaHei"/>
                <a:ea typeface="Microsoft YaHei"/>
              </a:rPr>
              <a:t>单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9020175" y="2371725"/>
            <a:ext cx="24765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测试手填上下文，没走真实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 SQL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571500" y="2847975"/>
            <a:ext cx="11049000" cy="523875"/>
          </a:xfrm>
          <a:prstGeom prst="roundRect">
            <a:avLst>
              <a:gd name="adj" fmla="val 14545"/>
            </a:avLst>
          </a:prstGeom>
          <a:solidFill>
            <a:srgbClr val="2A1414"/>
          </a:solidFill>
          <a:ln w="12700">
            <a:solidFill>
              <a:srgbClr val="FCA5A5"/>
            </a:solidFill>
            <a:prstDash val="solid"/>
          </a:ln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95325" y="3000375"/>
            <a:ext cx="285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CA5A5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1114425" y="2971800"/>
            <a:ext cx="152400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发单不落库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2771775" y="2981325"/>
            <a:ext cx="61150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E2E8F0"/>
                </a:solidFill>
                <a:latin typeface="Microsoft YaHei"/>
                <a:ea typeface="Microsoft YaHei"/>
              </a:rPr>
              <a:t>接口</a:t>
            </a:r>
            <a:r>
              <a:rPr lang="en-US" sz="1200">
                <a:solidFill>
                  <a:srgbClr val="E2E8F0"/>
                </a:solidFill>
                <a:latin typeface="Microsoft YaHei"/>
                <a:ea typeface="Microsoft YaHei"/>
              </a:rPr>
              <a:t xml:space="preserve"> 201</a:t>
            </a:r>
            <a:r>
              <a:rPr lang="zh-CN" sz="1200">
                <a:solidFill>
                  <a:srgbClr val="E2E8F0"/>
                </a:solidFill>
                <a:latin typeface="Microsoft YaHei"/>
                <a:ea typeface="Microsoft YaHei"/>
              </a:rPr>
              <a:t>，刷新后数据消失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9020175" y="2990850"/>
            <a:ext cx="24765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测试绕过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 HTTP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层，测不到事务边界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2867025" y="5581650"/>
            <a:ext cx="6467475" cy="390525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1800" b="1">
                <a:solidFill>
                  <a:srgbClr val="F59E0B"/>
                </a:solidFill>
                <a:latin typeface="Microsoft YaHei"/>
                <a:ea typeface="Microsoft YaHei"/>
              </a:rPr>
              <a:t>它们分别在「代码与数据库」「两次</a:t>
            </a:r>
            <a:r>
              <a:rPr lang="en-US" sz="1800" b="1">
                <a:solidFill>
                  <a:srgbClr val="F59E0B"/>
                </a:solidFill>
                <a:latin typeface="Microsoft YaHei"/>
                <a:ea typeface="Microsoft YaHei"/>
              </a:rPr>
              <a:t xml:space="preserve"> SQL</a:t>
            </a:r>
            <a:r>
              <a:rPr lang="zh-CN" sz="1800" b="1">
                <a:solidFill>
                  <a:srgbClr val="F59E0B"/>
                </a:solidFill>
                <a:latin typeface="Microsoft YaHei"/>
                <a:ea typeface="Microsoft YaHei"/>
              </a:rPr>
              <a:t>」「请求与事务」之间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3724275" y="6029325"/>
            <a:ext cx="4752975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而这三处，恰好都是单元测试的盲区——因为它天然会绕开这些边界。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34" name="" descr="&lt;Slide style={{ padding: 60, background: '#FFFFFF' }}&gt;&#10;  &lt;Box style={{ flexDirection: 'column', gap: 12, marginBottom: 20 }}&gt;&#10;    &lt;Text style={{ fontSize: 36, fontWeight: 'bold', color: '#1E293B', lineHeight: 1.2 }}&gt;&#10;      Prompt 3 · 不要问「还有问题吗」，给它能失败的判据&#10;    &lt;/Text&gt;&#10;    &lt;Box style={{ width: '100%', height: 1, background: '#E5E7EB' }} /&gt;&#10;  &lt;/Box&gt;&#10;  &lt;Box style={{ flexDirection: 'row', gap: 24, flex: 1 }}&gt;&#10;    &lt;Box style={{ flex: 1.2, background: '#0F172A', borderRadius: 10, padding: 20, justifyContent: 'center' }}&gt;&#10;      &lt;Text style={{ fontFamily: 'Consolas, monospace', fontSize: 12.5, color: '#E2E8F0', lineHeight: 1.55 }}&gt;&#10;        {'【任务】设计一个纯模型层测试文件，\n把&quot;枚举列宽不足&quot;这类问题钉死\n\n【必须覆盖 5 条断言】\n1. 每个枚举列：最长取值 &lt;= 列声明长度\n2. 每列 String：必须登记为枚举列或自由文本列\n3. 登记表每个键必须真实存在于模型\n4. 登记表枚举值 == 生成列 SQL 表达式\n5. 剩余宽度钉成快照，新值吃掉余量就失败\n\n【硬约束】不许 connect DB / mock / 读迁移\n\n【验收】先故意改坏一列，跑给我看必须失败；\n再改回来，跑给我看必须通过'}&#10;      &lt;/Text&gt;&#10;    &lt;/Box&gt;&#10;    &lt;Box style={{ flex: 1, flexDirection: 'column', gap: 16, justifyContent: 'center' }}&gt;&#10;      &lt;Box style={{ background: '#EFF6FF', borderRadius: 8, padding: 14, gap: 6 }}&gt;&#10;        &lt;Text style={{ fontSize: 17, fontWeight: 'bold', color: '#2563EB', lineHeight: 1.3 }}&gt;关键在最后一段&lt;/Text&gt;&#10;        &lt;Text style={{ fontSize: 15, color: '#64748B', lineHeight: 1.45 }}&gt;&#10;          只让它「写测试」，它会写一堆必然通过的断言；要求「先红后绿」，它才会真的验证自己的测试有效。&#10;        &lt;/Text&gt;&#10;      &lt;/Box&gt;&#10;      &lt;Box style={{ background: '#F8FAFC', border: '1px solid #E5E7EB', borderRadius: 8, padding: 14, gap: 6 }}&gt;&#10;        &lt;Text style={{ fontSize: 17, fontWeight: 'bold', color: '#1E293B', lineHeight: 1.3 }}&gt;第 2 条断言是核心&lt;/Text&gt;&#10;        &lt;Text style={{ fontSize: 15, color: '#64748B', lineHeight: 1.45 }}&gt;&#10;          前几条是修当下，第 2 条是&lt;span style={{ fontWeight: 'bold', color: '#2563EB' }}&gt;防未来&lt;/span&gt;——新增一列不登记，测试直接跑不过。这是闸门，不是补丁。&#10;        &lt;/Text&gt;&#10;      &lt;/Box&gt;&#10;      &lt;Text style={{ fontSize: 15, color: '#64748B', lineHeight: 1.5 }}&gt;&#10;        实际产出：370 行，覆盖 14 张表所有 String 列。&#10;      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Prompt 3 · </a:t>
            </a: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不要问「还有问题吗」，给它能失败的判据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571500" y="1181100"/>
            <a:ext cx="11049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571500" y="1381125"/>
            <a:ext cx="5905500" cy="4905375"/>
          </a:xfrm>
          <a:prstGeom prst="roundRect">
            <a:avLst>
              <a:gd name="adj" fmla="val 1942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62000" y="2286000"/>
            <a:ext cx="5524500" cy="31051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>【任务】设计一个纯模型层测试文件，
把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>"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>枚举列宽不足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>"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>这类问题钉死
【必须覆盖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 xml:space="preserve"> 5 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 xml:space="preserve">条断言】
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 xml:space="preserve">1. 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>每个枚举列：最长取值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 xml:space="preserve"> &lt;= 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 xml:space="preserve">列声明长度
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 xml:space="preserve">2. 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>每列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 xml:space="preserve"> String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 xml:space="preserve">：必须登记为枚举列或自由文本列
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 xml:space="preserve">3. 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 xml:space="preserve">登记表每个键必须真实存在于模型
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 xml:space="preserve">4. 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>登记表枚举值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 xml:space="preserve"> == 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>生成列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 xml:space="preserve"> SQL 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 xml:space="preserve">表达式
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 xml:space="preserve">5. 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>剩余宽度钉成快照，新值吃掉余量就失败
【硬约束】不许</a:t>
            </a:r>
            <a:r>
              <a:rPr lang="en-US" sz="938">
                <a:solidFill>
                  <a:srgbClr val="E2E8F0"/>
                </a:solidFill>
                <a:latin typeface="Consolas"/>
                <a:ea typeface="Consolas"/>
              </a:rPr>
              <a:t xml:space="preserve"> connect DB / mock / </a:t>
            </a:r>
            <a:r>
              <a:rPr lang="zh-CN" sz="938">
                <a:solidFill>
                  <a:srgbClr val="E2E8F0"/>
                </a:solidFill>
                <a:latin typeface="Consolas"/>
                <a:ea typeface="Consolas"/>
              </a:rPr>
              <a:t>读迁移
【验收】先故意改坏一列，跑给我看必须失败；
再改回来，跑给我看必须通过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6705600" y="2466975"/>
            <a:ext cx="4914900" cy="1085850"/>
          </a:xfrm>
          <a:prstGeom prst="roundRect">
            <a:avLst>
              <a:gd name="adj" fmla="val 7018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838950" y="2600325"/>
            <a:ext cx="464820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2563EB"/>
                </a:solidFill>
                <a:latin typeface="Microsoft YaHei"/>
                <a:ea typeface="Microsoft YaHei"/>
              </a:rPr>
              <a:t>关键在最后一段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838950" y="2914650"/>
            <a:ext cx="46482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只让它「写测试」，它会写一堆必然通过的断言；要求「先红后绿」，它才会真的验证自己的测试有效。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6705600" y="3705225"/>
            <a:ext cx="4914900" cy="1085850"/>
          </a:xfrm>
          <a:prstGeom prst="roundRect">
            <a:avLst>
              <a:gd name="adj" fmla="val 7018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838950" y="3838575"/>
            <a:ext cx="464820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1E293B"/>
                </a:solidFill>
                <a:latin typeface="Microsoft YaHei"/>
                <a:ea typeface="Microsoft YaHei"/>
              </a:rPr>
              <a:t>第</a:t>
            </a:r>
            <a:r>
              <a:rPr lang="en-US" sz="1275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275" b="1">
                <a:solidFill>
                  <a:srgbClr val="1E293B"/>
                </a:solidFill>
                <a:latin typeface="Microsoft YaHei"/>
                <a:ea typeface="Microsoft YaHei"/>
              </a:rPr>
              <a:t>条断言是核心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838950" y="4152900"/>
            <a:ext cx="46482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前几条是修当下，第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条是</a:t>
            </a:r>
            <a:r>
              <a:rPr lang="zh-CN" sz="1125" b="1">
                <a:solidFill>
                  <a:srgbClr val="2563EB"/>
                </a:solidFill>
                <a:latin typeface="Microsoft YaHei"/>
                <a:ea typeface="Microsoft YaHei"/>
              </a:rPr>
              <a:t>防未来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——新增一列不登记，测试直接跑不过。这是闸门，不是补丁。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6705600" y="4943475"/>
            <a:ext cx="4914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实际产出：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370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行，覆盖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14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张表所有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String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列。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47" name="" descr="&lt;Slide style={{ padding: 60, background: '#FFFFFF' }}&gt;&#10;  &lt;Box style={{ flexDirection: 'column', gap: 12, marginBottom: 24 }}&gt;&#10;    &lt;Text style={{ fontSize: 36, fontWeight: 'bold', color: '#1E293B', lineHeight: 1.2 }}&gt;&#10;      三个技巧，一条比一条贵&#10;    &lt;/Text&gt;&#10;    &lt;Box style={{ width: '100%', height: 1, background: '#E5E7EB' }} /&gt;&#10;  &lt;/Box&gt;&#10;  &lt;Box style={{ flexDirection: 'column', gap: 14, flex: 1 }}&gt;&#10;    {[&#10;      { n: '①', t: '可验证护栏', d: '每条结论都要有一条能红能绿的断言', w: '从需求阶段就开始', c: '低', col: '#2563EB' },&#10;      { n: '②', t: '真库做裁判', d: '涉及数据库的结论必须在真 PG 上复现', w: '每个提交前', c: '中', col: '#F59E0B' },&#10;      { n: '③', t: '标签做回退点', d: '每完成一个可验收小块就打标签', w: '跨 3 个文件以上的改动前', c: '低', col: '#06B6D4' },&#10;    ].map((r, i) =&gt; (&#10;      &lt;Box key={i} style={{ flexDirection: 'row', alignItems: 'center', gap: 16, background: '#F8FAFC', border: '1px solid #E5E7EB', borderRadius: 10, padding: 18 }}&gt;&#10;        &lt;Box style={{ width: 44, height: 44, background: r.col, borderRadius: 22, alignItems: 'center', justifyContent: 'center' }}&gt;&#10;          &lt;Text style={{ fontSize: 20, fontWeight: 'bold', color: '#FFFFFF' }}&gt;{r.n}&lt;/Text&gt;&#10;        &lt;/Box&gt;&#10;        &lt;Text style={{ fontSize: 20, fontWeight: 'bold', color: '#1E293B', width: 200, lineHeight: 1.3 }}&gt;{r.t}&lt;/Text&gt;&#10;        &lt;Text style={{ fontSize: 16, color: '#64748B', flex: 1, lineHeight: 1.45 }}&gt;{r.d}&lt;/Text&gt;&#10;        &lt;Box style={{ flexDirection: 'column', alignItems: 'flex-end', gap: 2, width: 180 }}&gt;&#10;          &lt;Text style={{ fontSize: 13, color: '#94A3B8' }}&gt;{r.w}&lt;/Text&gt;&#10;          &lt;Text style={{ fontSize: 15, fontWeight: 'bold', color: r.col }}&gt;成本 {r.c}&lt;/Text&gt;&#10;        &lt;/Box&gt;&#10;      &lt;/Box&gt;&#10;    ))}&#10;  &lt;/Box&gt;&#10;  &lt;Box style={{ background: '#EFF6FF', borderRadius: 8, padding: 16, marginTop: 22 }}&gt;&#10;    &lt;Text style={{ fontSize: 18, color: '#1E293B', lineHeight: 1.5, textAlign: 'center' }}&gt;&#10;      三个技巧合起来解决同一件事：让「我以为」变成「我验过」。&#10;    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三个技巧，一条比一条贵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571500" y="1181100"/>
            <a:ext cx="11049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571500" y="1419225"/>
            <a:ext cx="11049000" cy="7620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2" name=""/>
          <p:cNvSpPr/>
          <p:nvPr/>
        </p:nvSpPr>
        <p:spPr>
          <a:xfrm rot="0" flipH="0" flipV="0">
            <a:off x="742950" y="159067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857250" y="168592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1314450" y="1647825"/>
            <a:ext cx="19050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可验证护栏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3371850" y="1666875"/>
            <a:ext cx="62103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每条结论都要有一条能红能绿的断言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10458450" y="1628775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从需求阶段就开始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0972800" y="1800225"/>
            <a:ext cx="476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563EB"/>
                </a:solidFill>
                <a:latin typeface="Microsoft YaHei"/>
                <a:ea typeface="Microsoft YaHei"/>
              </a:rPr>
              <a:t>成本</a:t>
            </a:r>
            <a:r>
              <a:rPr lang="en-US" sz="1125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 b="1">
                <a:solidFill>
                  <a:srgbClr val="2563EB"/>
                </a:solidFill>
                <a:latin typeface="Microsoft YaHei"/>
                <a:ea typeface="Microsoft YaHei"/>
              </a:rPr>
              <a:t>低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571500" y="2314575"/>
            <a:ext cx="11049000" cy="7620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9" name=""/>
          <p:cNvSpPr/>
          <p:nvPr/>
        </p:nvSpPr>
        <p:spPr>
          <a:xfrm rot="0" flipH="0" flipV="0">
            <a:off x="742950" y="24860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57250" y="258127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314450" y="2543175"/>
            <a:ext cx="19050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真库做裁判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3371850" y="2562225"/>
            <a:ext cx="62103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涉及数据库的结论必须在真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PG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上复现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0829925" y="2524125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每个提交前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10972800" y="2695575"/>
            <a:ext cx="476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59E0B"/>
                </a:solidFill>
                <a:latin typeface="Microsoft YaHei"/>
                <a:ea typeface="Microsoft YaHei"/>
              </a:rPr>
              <a:t>成本</a:t>
            </a:r>
            <a:r>
              <a:rPr lang="en-US" sz="1125" b="1">
                <a:solidFill>
                  <a:srgbClr val="F59E0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 b="1">
                <a:solidFill>
                  <a:srgbClr val="F59E0B"/>
                </a:solidFill>
                <a:latin typeface="Microsoft YaHei"/>
                <a:ea typeface="Microsoft YaHei"/>
              </a:rPr>
              <a:t>中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571500" y="3209925"/>
            <a:ext cx="11049000" cy="7620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742950" y="338137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857250" y="347662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1314450" y="3438525"/>
            <a:ext cx="19050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标签做回退点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3371850" y="3457575"/>
            <a:ext cx="62103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每完成一个可验收小块就打标签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0058400" y="3419475"/>
            <a:ext cx="1390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跨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个文件以上的改动前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0972800" y="3590925"/>
            <a:ext cx="476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6B6D4"/>
                </a:solidFill>
                <a:latin typeface="Microsoft YaHei"/>
                <a:ea typeface="Microsoft YaHei"/>
              </a:rPr>
              <a:t>成本</a:t>
            </a:r>
            <a:r>
              <a:rPr lang="en-US" sz="1125" b="1">
                <a:solidFill>
                  <a:srgbClr val="06B6D4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 b="1">
                <a:solidFill>
                  <a:srgbClr val="06B6D4"/>
                </a:solidFill>
                <a:latin typeface="Microsoft YaHei"/>
                <a:ea typeface="Microsoft YaHei"/>
              </a:rPr>
              <a:t>低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571500" y="5667375"/>
            <a:ext cx="11049000" cy="619125"/>
          </a:xfrm>
          <a:prstGeom prst="roundRect">
            <a:avLst>
              <a:gd name="adj" fmla="val 12308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723900" y="5819775"/>
            <a:ext cx="10744200" cy="31432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三个技巧合起来解决同一件事：让「我以为」变成「我验过」。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74" name="" descr="&lt;Slide style={{ padding: 60, background: '#FFFFFF' }}&gt;&#10;  &lt;Box style={{ flexDirection: 'column', gap: 12, marginBottom: 22 }}&gt;&#10;    &lt;Text style={{ fontSize: 36, fontWeight: 'bold', color: '#1E293B', lineHeight: 1.2 }}&gt;&#10;      技巧①：把「应该」换成「等于」&#10;    &lt;/Text&gt;&#10;    &lt;Box style={{ width: '100%', height: 1, background: '#E5E7EB' }} /&gt;&#10;  &lt;/Box&gt;&#10;  &lt;Box style={{ flexDirection: 'column', gap: 12, flex: 1 }}&gt;&#10;    {[&#10;      { t: '愿望', e: '抢单要防止并发', j: '不能验收', c: '#94A3B8' },&#10;      { t: '标准', e: '抢单时只能有一个人成功', j: '勉强，靠人判断', c: '#F59E0B' },&#10;      { t: '判据', e: '100 并发后 count(*) WHERE status=IN_PROGRESS == 1，其余 99 个返回 40901', j: '能红能绿，交给机器', c: '#15803D' },&#10;    ].map((r, i) =&gt; (&#10;      &lt;Box key={i} style={{ flexDirection: 'row', alignItems: 'center', gap: 16, background: '#F8FAFC', border: `1px solid ${r.c}`, borderRadius: 10, padding: 16 }}&gt;&#10;        &lt;Text style={{ fontSize: 18, fontWeight: 'bold', color: r.c, width: 70, lineHeight: 1.3 }}&gt;{r.t}&lt;/Text&gt;&#10;        &lt;Text style={{ fontSize: 16, color: '#1E293B', flex: 1, lineHeight: 1.45 }}&gt;{r.e}&lt;/Text&gt;&#10;        &lt;Text style={{ fontSize: 15, color: r.c, fontWeight: 'bold', width: 140, lineHeight: 1.4 }}&gt;{r.j}&lt;/Text&gt;&#10;      &lt;/Box&gt;&#10;    ))}&#10;  &lt;/Box&gt;&#10;  &lt;Box style={{ flexDirection: 'row', gap: 16, marginTop: 20 }}&gt;&#10;    {[&#10;      { t: '数据库层', d: '唯一约束 + 部分索引 → 脏数据插不进去' },&#10;      { t: '状态机层', d: '状态 × 动作矩阵穷举 → 非法迁移抛特定码' },&#10;      { t: '接口层', d: '错误码契约 → 拒绝时返回具体那个码' },&#10;    ].map((r, i) =&gt; (&#10;      &lt;Box key={i} style={{ flex: 1, background: '#EFF6FF', borderRadius: 8, padding: 14, gap: 4 }}&gt;&#10;        &lt;Text style={{ fontSize: 16, fontWeight: 'bold', color: '#2563EB', lineHeight: 1.3 }}&gt;{r.t}&lt;/Text&gt;&#10;        &lt;Text style={{ fontSize: 14, color: '#64748B', lineHeight: 1.4 }}&gt;{r.d}&lt;/Text&gt;&#10;      &lt;/Box&gt;&#10;    ))}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技巧①：把「应该」换成「等于」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571500" y="1181100"/>
            <a:ext cx="11049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78" name=""/>
          <p:cNvSpPr/>
          <p:nvPr/>
        </p:nvSpPr>
        <p:spPr>
          <a:xfrm rot="0" flipH="0" flipV="0">
            <a:off x="571500" y="1400175"/>
            <a:ext cx="11049000" cy="581025"/>
          </a:xfrm>
          <a:prstGeom prst="roundRect">
            <a:avLst>
              <a:gd name="adj" fmla="val 16393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723900" y="1552575"/>
            <a:ext cx="66675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94A3B8"/>
                </a:solidFill>
                <a:latin typeface="Microsoft YaHei"/>
                <a:ea typeface="Microsoft YaHei"/>
              </a:rPr>
              <a:t>愿望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543050" y="1562100"/>
            <a:ext cx="843915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抢单要防止并发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10134600" y="1571625"/>
            <a:ext cx="13335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94A3B8"/>
                </a:solidFill>
                <a:latin typeface="Microsoft YaHei"/>
                <a:ea typeface="Microsoft YaHei"/>
              </a:rPr>
              <a:t>不能验收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571500" y="2095500"/>
            <a:ext cx="11049000" cy="581025"/>
          </a:xfrm>
          <a:prstGeom prst="roundRect">
            <a:avLst>
              <a:gd name="adj" fmla="val 16393"/>
            </a:avLst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723900" y="2247900"/>
            <a:ext cx="66675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F59E0B"/>
                </a:solidFill>
                <a:latin typeface="Microsoft YaHei"/>
                <a:ea typeface="Microsoft YaHei"/>
              </a:rPr>
              <a:t>标准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1543050" y="2257425"/>
            <a:ext cx="843915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抢单时只能有一个人成功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0134600" y="2266950"/>
            <a:ext cx="13335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F59E0B"/>
                </a:solidFill>
                <a:latin typeface="Microsoft YaHei"/>
                <a:ea typeface="Microsoft YaHei"/>
              </a:rPr>
              <a:t>勉强，靠人判断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571500" y="2790825"/>
            <a:ext cx="11049000" cy="581025"/>
          </a:xfrm>
          <a:prstGeom prst="roundRect">
            <a:avLst>
              <a:gd name="adj" fmla="val 16393"/>
            </a:avLst>
          </a:prstGeom>
          <a:solidFill>
            <a:srgbClr val="F8FAFC"/>
          </a:solidFill>
          <a:ln w="12700">
            <a:solidFill>
              <a:srgbClr val="15803D"/>
            </a:solidFill>
            <a:prstDash val="solid"/>
          </a:ln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723900" y="2943225"/>
            <a:ext cx="66675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15803D"/>
                </a:solidFill>
                <a:latin typeface="Microsoft YaHei"/>
                <a:ea typeface="Microsoft YaHei"/>
              </a:rPr>
              <a:t>判据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1543050" y="2952750"/>
            <a:ext cx="843915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00">
                <a:solidFill>
                  <a:srgbClr val="1E293B"/>
                </a:solidFill>
                <a:latin typeface="Microsoft YaHei"/>
                <a:ea typeface="Microsoft YaHei"/>
              </a:rPr>
              <a:t xml:space="preserve">100 </a:t>
            </a: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并发后</a:t>
            </a:r>
            <a:r>
              <a:rPr lang="en-US" sz="1200">
                <a:solidFill>
                  <a:srgbClr val="1E293B"/>
                </a:solidFill>
                <a:latin typeface="Microsoft YaHei"/>
                <a:ea typeface="Microsoft YaHei"/>
              </a:rPr>
              <a:t xml:space="preserve"> count(*) WHERE status=IN_PROGRESS == 1</a:t>
            </a: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，其余</a:t>
            </a:r>
            <a:r>
              <a:rPr lang="en-US" sz="1200">
                <a:solidFill>
                  <a:srgbClr val="1E293B"/>
                </a:solidFill>
                <a:latin typeface="Microsoft YaHei"/>
                <a:ea typeface="Microsoft YaHei"/>
              </a:rPr>
              <a:t xml:space="preserve"> 99 </a:t>
            </a: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个返回</a:t>
            </a:r>
            <a:r>
              <a:rPr lang="en-US" sz="1200">
                <a:solidFill>
                  <a:srgbClr val="1E293B"/>
                </a:solidFill>
                <a:latin typeface="Microsoft YaHei"/>
                <a:ea typeface="Microsoft YaHei"/>
              </a:rPr>
              <a:t xml:space="preserve"> 40901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10134600" y="2962275"/>
            <a:ext cx="13335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15803D"/>
                </a:solidFill>
                <a:latin typeface="Microsoft YaHei"/>
                <a:ea typeface="Microsoft YaHei"/>
              </a:rPr>
              <a:t>能红能绿，交给机器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571500" y="5514975"/>
            <a:ext cx="3581400" cy="771525"/>
          </a:xfrm>
          <a:prstGeom prst="roundRect">
            <a:avLst>
              <a:gd name="adj" fmla="val 9877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704850" y="5648325"/>
            <a:ext cx="33147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2563EB"/>
                </a:solidFill>
                <a:latin typeface="Microsoft YaHei"/>
                <a:ea typeface="Microsoft YaHei"/>
              </a:rPr>
              <a:t>数据库层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704850" y="5924550"/>
            <a:ext cx="33147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唯一约束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部分索引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脏数据插不进去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4305300" y="5514975"/>
            <a:ext cx="3581400" cy="771525"/>
          </a:xfrm>
          <a:prstGeom prst="roundRect">
            <a:avLst>
              <a:gd name="adj" fmla="val 9877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4438650" y="5648325"/>
            <a:ext cx="33147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2563EB"/>
                </a:solidFill>
                <a:latin typeface="Microsoft YaHei"/>
                <a:ea typeface="Microsoft YaHei"/>
              </a:rPr>
              <a:t>状态机层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438650" y="5924550"/>
            <a:ext cx="33147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状态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动作矩阵穷举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非法迁移抛特定码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8039100" y="5514975"/>
            <a:ext cx="3581400" cy="771525"/>
          </a:xfrm>
          <a:prstGeom prst="roundRect">
            <a:avLst>
              <a:gd name="adj" fmla="val 9877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8172450" y="5648325"/>
            <a:ext cx="33147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2563EB"/>
                </a:solidFill>
                <a:latin typeface="Microsoft YaHei"/>
                <a:ea typeface="Microsoft YaHei"/>
              </a:rPr>
              <a:t>接口层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172450" y="5924550"/>
            <a:ext cx="33147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错误码契约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拒绝时返回具体那个码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99" name="" descr="&lt;Slide style={{ padding: 60, background: '#FFFFFF' }}&gt;&#10;  &lt;Box style={{ flexDirection: 'column', gap: 12, marginBottom: 20 }}&gt;&#10;    &lt;Text style={{ fontSize: 36, fontWeight: 'bold', color: '#1E293B', lineHeight: 1.2 }}&gt;&#10;      技巧②：替身能证明逻辑，证明不了环境&#10;    &lt;/Text&gt;&#10;    &lt;Box style={{ width: '100%', height: 1, background: '#E5E7EB' }} /&gt;&#10;  &lt;/Box&gt;&#10;  &lt;Box style={{ flexDirection: 'column', gap: 8, flex: 1 }}&gt;&#10;    &lt;Box style={{ flexDirection: 'row', gap: 12 }}&gt;&#10;      &lt;Text style={{ flex: 1, fontSize: 15, fontWeight: 'bold', color: '#94A3B8' }}&gt;内存替身会漏掉的问题&lt;/Text&gt;&#10;      &lt;Text style={{ width: 90, fontSize: 15, fontWeight: 'bold', color: '#94A3B8', textAlign: 'center' }}&gt;单测能抓吗&lt;/Text&gt;&#10;    &lt;/Box&gt;&#10;    {[&#10;      { t: '类型 / 宽度：varchar(8) 装不下 UNSETTLED(9)' },&#10;      { t: '约束：唯一索引冲突、外键顺序' },&#10;      { t: '事务与隔离：CAS 的 rowcount、并发读到的旧值' },&#10;      { t: '默认值 / 生成列：DEFAULT 值本身超宽、生成列表达式' },&#10;      { t: 'SQL 语义：NULL 比较、时区、ORDER BY 稳定性' },&#10;    ].map((r, i) =&gt; (&#10;      &lt;Box key={i} style={{ flexDirection: 'row', gap: 12, alignItems: 'center', borderBottom: '1px solid #E5E7EB', paddingVertical: 8 }}&gt;&#10;        &lt;Text style={{ flex: 1, fontSize: 16, color: '#1E293B', lineHeight: 1.4 }}&gt;{r.t}&lt;/Text&gt;&#10;        &lt;Text style={{ width: 90, fontSize: 16, color: '#DC2626', fontWeight: 'bold', textAlign: 'center' }}&gt;✗ 不能&lt;/Text&gt;&#10;      &lt;/Box&gt;&#10;    ))}&#10;  &lt;/Box&gt;&#10;  &lt;Box style={{ background: '#EFF6FF', borderRadius: 8, padding: 16, marginTop: 18 }}&gt;&#10;    &lt;Text style={{ fontSize: 16, color: '#1E293B', lineHeight: 1.5 }}&gt;&#10;      所以我的分层：&lt;span style={{ fontWeight: 'bold' }}&gt;单元测试&lt;/span&gt;（逻辑、守卫、矩阵，快）→ &lt;span style={{ fontWeight: 'bold' }}&gt;集成测试&lt;/span&gt;（92 条，真事务真并发真 Lua，慢）→ &lt;span style={{ fontWeight: 'bold' }}&gt;判据式并发测试&lt;/span&gt;（100 并发打一单，断言写死结果）。同一件事在两个层面各写一次。&#10;    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技巧②：替身能证明逻辑，证明不了环境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571500" y="1181100"/>
            <a:ext cx="11049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571500" y="1381125"/>
            <a:ext cx="10077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94A3B8"/>
                </a:solidFill>
                <a:latin typeface="Microsoft YaHei"/>
                <a:ea typeface="Microsoft YaHei"/>
              </a:rPr>
              <a:t>内存替身会漏掉的问题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0763250" y="1381125"/>
            <a:ext cx="85725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94A3B8"/>
                </a:solidFill>
                <a:latin typeface="Microsoft YaHei"/>
                <a:ea typeface="Microsoft YaHei"/>
              </a:rPr>
              <a:t>单测能抓吗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571500" y="1628775"/>
            <a:ext cx="11049000" cy="276225"/>
          </a:xfrm>
          <a:custGeom>
            <a:pathLst>
              <a:path w="1160" h="29">
                <a:moveTo>
                  <a:pt x="0" y="28"/>
                </a:moveTo>
                <a:lnTo>
                  <a:pt x="1160" y="28"/>
                </a:lnTo>
                <a:lnTo>
                  <a:pt x="1160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571500" y="1628775"/>
            <a:ext cx="100774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类型</a:t>
            </a:r>
            <a:r>
              <a:rPr lang="en-US" sz="1200">
                <a:solidFill>
                  <a:srgbClr val="1E293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宽度：</a:t>
            </a:r>
            <a:r>
              <a:rPr lang="en-US" sz="1200">
                <a:solidFill>
                  <a:srgbClr val="1E293B"/>
                </a:solidFill>
                <a:latin typeface="Microsoft YaHei"/>
                <a:ea typeface="Microsoft YaHei"/>
              </a:rPr>
              <a:t xml:space="preserve">varchar(8) </a:t>
            </a: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装不下</a:t>
            </a:r>
            <a:r>
              <a:rPr lang="en-US" sz="1200">
                <a:solidFill>
                  <a:srgbClr val="1E293B"/>
                </a:solidFill>
                <a:latin typeface="Microsoft YaHei"/>
                <a:ea typeface="Microsoft YaHei"/>
              </a:rPr>
              <a:t xml:space="preserve"> UNSETTLED(9)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10763250" y="1666875"/>
            <a:ext cx="85725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 b="1">
                <a:solidFill>
                  <a:srgbClr val="DC2626"/>
                </a:solidFill>
                <a:latin typeface="Microsoft YaHei"/>
                <a:ea typeface="Microsoft YaHei"/>
              </a:rPr>
              <a:t xml:space="preserve">✗ </a:t>
            </a:r>
            <a:r>
              <a:rPr lang="zh-CN" sz="1200" b="1">
                <a:solidFill>
                  <a:srgbClr val="DC2626"/>
                </a:solidFill>
                <a:latin typeface="Microsoft YaHei"/>
                <a:ea typeface="Microsoft YaHei"/>
              </a:rPr>
              <a:t>不能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571500" y="1971675"/>
            <a:ext cx="11049000" cy="276225"/>
          </a:xfrm>
          <a:custGeom>
            <a:pathLst>
              <a:path w="1160" h="29">
                <a:moveTo>
                  <a:pt x="0" y="28"/>
                </a:moveTo>
                <a:lnTo>
                  <a:pt x="1160" y="28"/>
                </a:lnTo>
                <a:lnTo>
                  <a:pt x="1160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571500" y="1971675"/>
            <a:ext cx="100774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约束：唯一索引冲突、外键顺序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0763250" y="2009775"/>
            <a:ext cx="85725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 b="1">
                <a:solidFill>
                  <a:srgbClr val="DC2626"/>
                </a:solidFill>
                <a:latin typeface="Microsoft YaHei"/>
                <a:ea typeface="Microsoft YaHei"/>
              </a:rPr>
              <a:t xml:space="preserve">✗ </a:t>
            </a:r>
            <a:r>
              <a:rPr lang="zh-CN" sz="1200" b="1">
                <a:solidFill>
                  <a:srgbClr val="DC2626"/>
                </a:solidFill>
                <a:latin typeface="Microsoft YaHei"/>
                <a:ea typeface="Microsoft YaHei"/>
              </a:rPr>
              <a:t>不能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571500" y="2314575"/>
            <a:ext cx="11049000" cy="276225"/>
          </a:xfrm>
          <a:custGeom>
            <a:pathLst>
              <a:path w="1160" h="29">
                <a:moveTo>
                  <a:pt x="0" y="28"/>
                </a:moveTo>
                <a:lnTo>
                  <a:pt x="1160" y="28"/>
                </a:lnTo>
                <a:lnTo>
                  <a:pt x="1160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571500" y="2314575"/>
            <a:ext cx="100774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事务与隔离：</a:t>
            </a:r>
            <a:r>
              <a:rPr lang="en-US" sz="1200">
                <a:solidFill>
                  <a:srgbClr val="1E293B"/>
                </a:solidFill>
                <a:latin typeface="Microsoft YaHei"/>
                <a:ea typeface="Microsoft YaHei"/>
              </a:rPr>
              <a:t xml:space="preserve">CAS </a:t>
            </a: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的</a:t>
            </a:r>
            <a:r>
              <a:rPr lang="en-US" sz="1200">
                <a:solidFill>
                  <a:srgbClr val="1E293B"/>
                </a:solidFill>
                <a:latin typeface="Microsoft YaHei"/>
                <a:ea typeface="Microsoft YaHei"/>
              </a:rPr>
              <a:t xml:space="preserve"> rowcount</a:t>
            </a: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、并发读到的旧值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10763250" y="2352675"/>
            <a:ext cx="85725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 b="1">
                <a:solidFill>
                  <a:srgbClr val="DC2626"/>
                </a:solidFill>
                <a:latin typeface="Microsoft YaHei"/>
                <a:ea typeface="Microsoft YaHei"/>
              </a:rPr>
              <a:t xml:space="preserve">✗ </a:t>
            </a:r>
            <a:r>
              <a:rPr lang="zh-CN" sz="1200" b="1">
                <a:solidFill>
                  <a:srgbClr val="DC2626"/>
                </a:solidFill>
                <a:latin typeface="Microsoft YaHei"/>
                <a:ea typeface="Microsoft YaHei"/>
              </a:rPr>
              <a:t>不能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571500" y="2657475"/>
            <a:ext cx="11049000" cy="276225"/>
          </a:xfrm>
          <a:custGeom>
            <a:pathLst>
              <a:path w="1160" h="29">
                <a:moveTo>
                  <a:pt x="0" y="28"/>
                </a:moveTo>
                <a:lnTo>
                  <a:pt x="1160" y="28"/>
                </a:lnTo>
                <a:lnTo>
                  <a:pt x="1160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571500" y="2657475"/>
            <a:ext cx="100774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默认值</a:t>
            </a:r>
            <a:r>
              <a:rPr lang="en-US" sz="1200">
                <a:solidFill>
                  <a:srgbClr val="1E293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生成列：</a:t>
            </a:r>
            <a:r>
              <a:rPr lang="en-US" sz="1200">
                <a:solidFill>
                  <a:srgbClr val="1E293B"/>
                </a:solidFill>
                <a:latin typeface="Microsoft YaHei"/>
                <a:ea typeface="Microsoft YaHei"/>
              </a:rPr>
              <a:t xml:space="preserve">DEFAULT </a:t>
            </a: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值本身超宽、生成列表达式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0763250" y="2695575"/>
            <a:ext cx="85725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 b="1">
                <a:solidFill>
                  <a:srgbClr val="DC2626"/>
                </a:solidFill>
                <a:latin typeface="Microsoft YaHei"/>
                <a:ea typeface="Microsoft YaHei"/>
              </a:rPr>
              <a:t xml:space="preserve">✗ </a:t>
            </a:r>
            <a:r>
              <a:rPr lang="zh-CN" sz="1200" b="1">
                <a:solidFill>
                  <a:srgbClr val="DC2626"/>
                </a:solidFill>
                <a:latin typeface="Microsoft YaHei"/>
                <a:ea typeface="Microsoft YaHei"/>
              </a:rPr>
              <a:t>不能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571500" y="3000375"/>
            <a:ext cx="11049000" cy="276225"/>
          </a:xfrm>
          <a:custGeom>
            <a:pathLst>
              <a:path w="1160" h="29">
                <a:moveTo>
                  <a:pt x="0" y="28"/>
                </a:moveTo>
                <a:lnTo>
                  <a:pt x="1160" y="28"/>
                </a:lnTo>
                <a:lnTo>
                  <a:pt x="1160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571500" y="3000375"/>
            <a:ext cx="100774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00">
                <a:solidFill>
                  <a:srgbClr val="1E293B"/>
                </a:solidFill>
                <a:latin typeface="Microsoft YaHei"/>
                <a:ea typeface="Microsoft YaHei"/>
              </a:rPr>
              <a:t xml:space="preserve">SQL </a:t>
            </a: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语义：</a:t>
            </a:r>
            <a:r>
              <a:rPr lang="en-US" sz="1200">
                <a:solidFill>
                  <a:srgbClr val="1E293B"/>
                </a:solidFill>
                <a:latin typeface="Microsoft YaHei"/>
                <a:ea typeface="Microsoft YaHei"/>
              </a:rPr>
              <a:t xml:space="preserve">NULL </a:t>
            </a: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比较、时区、</a:t>
            </a:r>
            <a:r>
              <a:rPr lang="en-US" sz="1200">
                <a:solidFill>
                  <a:srgbClr val="1E293B"/>
                </a:solidFill>
                <a:latin typeface="Microsoft YaHei"/>
                <a:ea typeface="Microsoft YaHei"/>
              </a:rPr>
              <a:t xml:space="preserve">ORDER BY </a:t>
            </a: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稳定性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10763250" y="3038475"/>
            <a:ext cx="85725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 b="1">
                <a:solidFill>
                  <a:srgbClr val="DC2626"/>
                </a:solidFill>
                <a:latin typeface="Microsoft YaHei"/>
                <a:ea typeface="Microsoft YaHei"/>
              </a:rPr>
              <a:t xml:space="preserve">✗ </a:t>
            </a:r>
            <a:r>
              <a:rPr lang="zh-CN" sz="1200" b="1">
                <a:solidFill>
                  <a:srgbClr val="DC2626"/>
                </a:solidFill>
                <a:latin typeface="Microsoft YaHei"/>
                <a:ea typeface="Microsoft YaHei"/>
              </a:rPr>
              <a:t>不能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571500" y="5429250"/>
            <a:ext cx="11049000" cy="85725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723900" y="5581650"/>
            <a:ext cx="10744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所以我的分层：</a:t>
            </a: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单元测试</a:t>
            </a: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（逻辑、守卫、矩阵，快）→</a:t>
            </a:r>
            <a:r>
              <a:rPr lang="en-US" sz="1200">
                <a:solidFill>
                  <a:srgbClr val="1E293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集成测试</a:t>
            </a: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（</a:t>
            </a:r>
            <a:r>
              <a:rPr lang="en-US" sz="1200">
                <a:solidFill>
                  <a:srgbClr val="1E293B"/>
                </a:solidFill>
                <a:latin typeface="Microsoft YaHei"/>
                <a:ea typeface="Microsoft YaHei"/>
              </a:rPr>
              <a:t xml:space="preserve">92 </a:t>
            </a: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条，真事务真并发真</a:t>
            </a:r>
            <a:r>
              <a:rPr lang="en-US" sz="1200">
                <a:solidFill>
                  <a:srgbClr val="1E293B"/>
                </a:solidFill>
                <a:latin typeface="Microsoft YaHei"/>
                <a:ea typeface="Microsoft YaHei"/>
              </a:rPr>
              <a:t xml:space="preserve"> Lua</a:t>
            </a: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，慢）→</a:t>
            </a:r>
            <a:r>
              <a:rPr lang="en-US" sz="1200">
                <a:solidFill>
                  <a:srgbClr val="1E293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判据式并发测试</a:t>
            </a: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（</a:t>
            </a:r>
            <a:r>
              <a:rPr lang="en-US" sz="1200">
                <a:solidFill>
                  <a:srgbClr val="1E293B"/>
                </a:solidFill>
                <a:latin typeface="Microsoft YaHei"/>
                <a:ea typeface="Microsoft YaHei"/>
              </a:rPr>
              <a:t xml:space="preserve">100 </a:t>
            </a: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并发打一单，断言写死结果）。同一件事在两个层面各写一次。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22" name="" descr="&lt;Slide style={{ padding: 60, background: '#FFFFFF' }}&gt;&#10;  &lt;Box style={{ flexDirection: 'column', gap: 12, marginBottom: 22 }}&gt;&#10;    &lt;Text style={{ fontSize: 36, fontWeight: 'bold', color: '#1E293B', lineHeight: 1.2 }}&gt;&#10;      技巧③：一个人开发，最怕「改着改着不知道哪步坏了」&#10;    &lt;/Text&gt;&#10;    &lt;Box style={{ width: '100%', height: 1, background: '#E5E7EB' }} /&gt;&#10;  &lt;/Box&gt;&#10;  &lt;Box style={{ flexDirection: 'row', gap: 24, flex: 1 }}&gt;&#10;    &lt;Box style={{ flex: 1, flexDirection: 'column', gap: 14 }}&gt;&#10;      &lt;Text style={{ fontSize: 20, fontWeight: 'bold', color: '#2563EB', lineHeight: 1.3 }}&gt;提交粒度&lt;/Text&gt;&#10;      &lt;Text style={{ fontSize: 16, color: '#64748B', lineHeight: 1.5 }}&gt;&#10;        一个任务一个提交，一个提交只做一件事。36 次提交的实际分布：&#10;      &lt;/Text&gt;&#10;      &lt;Box style={{ flexDirection: 'row', gap: 8 }}&gt;&#10;        {[['feat', 14, '#2563EB'], ['docs', 10, '#64748B'], ['test', 7, '#06B6D4'], ['chore', 3, '#94A3B8'], ['fix', 2, '#DC2626']].map((t, i) =&gt; (&#10;          &lt;Box key={i} style={{ flex: 1, background: '#F8FAFC', border: '1px solid #E5E7EB', borderRadius: 8, padding: 10, alignItems: 'center', gap: 4 }}&gt;&#10;            &lt;Text style={{ fontSize: 22, fontWeight: 'bold', color: t[2] as string, lineHeight: 1 }}&gt;{t[1]}&lt;/Text&gt;&#10;            &lt;Text style={{ fontSize: 13, color: '#64748B' }}&gt;{t[0]}&lt;/Text&gt;&#10;          &lt;/Box&gt;&#10;        ))}&#10;      &lt;/Box&gt;&#10;      &lt;Text style={{ fontSize: 15, color: '#64748B', lineHeight: 1.45 }}&gt;&#10;        让 feat 和 test 交替出现，每个功能提交都自带它的验收——退到任何一个标签点，都是「功能完整 + 测试通过」的状态。&#10;      &lt;/Text&gt;&#10;    &lt;/Box&gt;&#10;    &lt;Box style={{ flex: 1, flexDirection: 'column', gap: 12 }}&gt;&#10;      &lt;Text style={{ fontSize: 20, fontWeight: 'bold', color: '#2563EB', lineHeight: 1.3 }}&gt;打标签的三条硬规则&lt;/Text&gt;&#10;      {['一次迁移能从空库跑到 head 并降回 base → 打', '状态机 17 条迁移全部实现且矩阵测试通过 → 打', '一组集成测试在真库上稳定通过两次 → 打'].map((s, i) =&gt; (&#10;        &lt;Box key={i} style={{ flexDirection: 'row', alignItems: 'flex-start', gap: 10 }}&gt;&#10;          &lt;Text style={{ fontSize: 16, color: '#2563EB', fontWeight: 'bold', lineHeight: 1.5 }}&gt;{i + 1}.&lt;/Text&gt;&#10;          &lt;Text style={{ fontSize: 16, color: '#1E293B', lineHeight: 1.5, flex: 1 }}&gt;{s}&lt;/Text&gt;&#10;        &lt;/Box&gt;&#10;      ))}&#10;      &lt;Box style={{ background: '#FEF3C7', borderRadius: 8, padding: 12, marginTop: 4 }}&gt;&#10;        &lt;Text style={{ fontSize: 15, color: '#1E293B', lineHeight: 1.45 }}&gt;&#10;          出问题时&lt;span style={{ fontWeight: 'bold', color: '#B45309' }}&gt;整体退回上一个标签&lt;/span&gt;，不要在泥潭里逐个文件 checkout——AI 改动的关联性很强，你以为只改了 A，它顺手动了 B。&#10;        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技巧③：一个人开发，最怕「改着改着不知道哪步坏了」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571500" y="1181100"/>
            <a:ext cx="11049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571500" y="1400175"/>
            <a:ext cx="54102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提交粒度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571500" y="1838325"/>
            <a:ext cx="5410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一个任务一个提交，一个提交只做一件事。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36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次提交的实际分布：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571500" y="2247900"/>
            <a:ext cx="1019175" cy="638175"/>
          </a:xfrm>
          <a:prstGeom prst="roundRect">
            <a:avLst>
              <a:gd name="adj" fmla="val 1194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952500" y="2343150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563EB"/>
                </a:solidFill>
                <a:latin typeface="Microsoft YaHei"/>
                <a:ea typeface="Microsoft YaHei"/>
              </a:rPr>
              <a:t>14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971550" y="2638425"/>
            <a:ext cx="228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feat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1666875" y="2247900"/>
            <a:ext cx="1019175" cy="638175"/>
          </a:xfrm>
          <a:prstGeom prst="roundRect">
            <a:avLst>
              <a:gd name="adj" fmla="val 1194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2047875" y="2343150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64748B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2038350" y="2638425"/>
            <a:ext cx="285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docs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2762250" y="2247900"/>
            <a:ext cx="1028700" cy="638175"/>
          </a:xfrm>
          <a:prstGeom prst="roundRect">
            <a:avLst>
              <a:gd name="adj" fmla="val 1194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3209925" y="234315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6B6D4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3171825" y="2638425"/>
            <a:ext cx="219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test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3867150" y="2247900"/>
            <a:ext cx="1019175" cy="638175"/>
          </a:xfrm>
          <a:prstGeom prst="roundRect">
            <a:avLst>
              <a:gd name="adj" fmla="val 1194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4314825" y="234315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94A3B8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4210050" y="2638425"/>
            <a:ext cx="333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chore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4962525" y="2247900"/>
            <a:ext cx="1019175" cy="638175"/>
          </a:xfrm>
          <a:prstGeom prst="roundRect">
            <a:avLst>
              <a:gd name="adj" fmla="val 1194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5410200" y="234315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DC2626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5400675" y="2638425"/>
            <a:ext cx="142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fix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571500" y="3019425"/>
            <a:ext cx="54102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让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feat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和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test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交替出现，每个功能提交都自带它的验收——退到任何一个标签点，都是「功能完整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测试通过」的状态。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210300" y="1400175"/>
            <a:ext cx="54102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打标签的三条硬规则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210300" y="1819275"/>
            <a:ext cx="1428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 b="1">
                <a:solidFill>
                  <a:srgbClr val="2563EB"/>
                </a:solidFill>
                <a:latin typeface="Microsoft YaHei"/>
                <a:ea typeface="Microsoft YaHei"/>
              </a:rPr>
              <a:t>1</a:t>
            </a:r>
            <a:r>
              <a:rPr lang="en-US" sz="1200" b="1">
                <a:solidFill>
                  <a:srgbClr val="2563EB"/>
                </a:solidFill>
                <a:latin typeface="Microsoft YaHei"/>
                <a:ea typeface="Microsoft YaHei"/>
              </a:rPr>
              <a:t>.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448425" y="1819275"/>
            <a:ext cx="51720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一次迁移能从空库跑到</a:t>
            </a:r>
            <a:r>
              <a:rPr lang="en-US" sz="1200">
                <a:solidFill>
                  <a:srgbClr val="1E293B"/>
                </a:solidFill>
                <a:latin typeface="Microsoft YaHei"/>
                <a:ea typeface="Microsoft YaHei"/>
              </a:rPr>
              <a:t xml:space="preserve"> head </a:t>
            </a: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并降回</a:t>
            </a:r>
            <a:r>
              <a:rPr lang="en-US" sz="1200">
                <a:solidFill>
                  <a:srgbClr val="1E293B"/>
                </a:solidFill>
                <a:latin typeface="Microsoft YaHei"/>
                <a:ea typeface="Microsoft YaHei"/>
              </a:rPr>
              <a:t xml:space="preserve"> base → </a:t>
            </a: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打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210300" y="2209800"/>
            <a:ext cx="1428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 b="1">
                <a:solidFill>
                  <a:srgbClr val="2563EB"/>
                </a:solidFill>
                <a:latin typeface="Microsoft YaHei"/>
                <a:ea typeface="Microsoft YaHei"/>
              </a:rPr>
              <a:t>2</a:t>
            </a:r>
            <a:r>
              <a:rPr lang="en-US" sz="1200" b="1">
                <a:solidFill>
                  <a:srgbClr val="2563EB"/>
                </a:solidFill>
                <a:latin typeface="Microsoft YaHei"/>
                <a:ea typeface="Microsoft YaHei"/>
              </a:rPr>
              <a:t>.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448425" y="2209800"/>
            <a:ext cx="51720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状态机</a:t>
            </a:r>
            <a:r>
              <a:rPr lang="en-US" sz="1200">
                <a:solidFill>
                  <a:srgbClr val="1E293B"/>
                </a:solidFill>
                <a:latin typeface="Microsoft YaHei"/>
                <a:ea typeface="Microsoft YaHei"/>
              </a:rPr>
              <a:t xml:space="preserve"> 17 </a:t>
            </a: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条迁移全部实现且矩阵测试通过</a:t>
            </a:r>
            <a:r>
              <a:rPr lang="en-US" sz="1200">
                <a:solidFill>
                  <a:srgbClr val="1E293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打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210300" y="2600325"/>
            <a:ext cx="1428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 b="1">
                <a:solidFill>
                  <a:srgbClr val="2563EB"/>
                </a:solidFill>
                <a:latin typeface="Microsoft YaHei"/>
                <a:ea typeface="Microsoft YaHei"/>
              </a:rPr>
              <a:t>3</a:t>
            </a:r>
            <a:r>
              <a:rPr lang="en-US" sz="1200" b="1">
                <a:solidFill>
                  <a:srgbClr val="2563EB"/>
                </a:solidFill>
                <a:latin typeface="Microsoft YaHei"/>
                <a:ea typeface="Microsoft YaHei"/>
              </a:rPr>
              <a:t>.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448425" y="2600325"/>
            <a:ext cx="51720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一组集成测试在真库上稳定通过两次</a:t>
            </a:r>
            <a:r>
              <a:rPr lang="en-US" sz="1200">
                <a:solidFill>
                  <a:srgbClr val="1E293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打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6210300" y="3028950"/>
            <a:ext cx="5410200" cy="733425"/>
          </a:xfrm>
          <a:prstGeom prst="roundRect">
            <a:avLst>
              <a:gd name="adj" fmla="val 10390"/>
            </a:avLst>
          </a:prstGeom>
          <a:solidFill>
            <a:srgbClr val="FEF3C7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324600" y="3143250"/>
            <a:ext cx="51816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出问题时</a:t>
            </a:r>
            <a:r>
              <a:rPr lang="zh-CN" sz="1125" b="1">
                <a:solidFill>
                  <a:srgbClr val="B45309"/>
                </a:solidFill>
                <a:latin typeface="Microsoft YaHei"/>
                <a:ea typeface="Microsoft YaHei"/>
              </a:rPr>
              <a:t>整体退回上一个标签</a:t>
            </a: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，不要在泥潭里逐个文件</a:t>
            </a:r>
            <a:r>
              <a:rPr lang="en-US" sz="1125">
                <a:solidFill>
                  <a:srgbClr val="1E293B"/>
                </a:solidFill>
                <a:latin typeface="Microsoft YaHei"/>
                <a:ea typeface="Microsoft YaHei"/>
              </a:rPr>
              <a:t xml:space="preserve"> checkout——AI </a:t>
            </a: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改动的关联性很强，你以为只改了</a:t>
            </a:r>
            <a:r>
              <a:rPr lang="en-US" sz="1125">
                <a:solidFill>
                  <a:srgbClr val="1E293B"/>
                </a:solidFill>
                <a:latin typeface="Microsoft YaHei"/>
                <a:ea typeface="Microsoft YaHei"/>
              </a:rPr>
              <a:t xml:space="preserve"> A</a:t>
            </a: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，它顺手动了</a:t>
            </a:r>
            <a:r>
              <a:rPr lang="en-US" sz="1125">
                <a:solidFill>
                  <a:srgbClr val="1E293B"/>
                </a:solidFill>
                <a:latin typeface="Microsoft YaHei"/>
                <a:ea typeface="Microsoft YaHei"/>
              </a:rPr>
              <a:t xml:space="preserve"> B</a:t>
            </a: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53" name="" descr="&lt;Slide style={{ padding: 60, background: '#FFFFFF' }}&gt;&#10;  &lt;Box style={{ flexDirection: 'column', gap: 12, marginBottom: 18 }}&gt;&#10;    &lt;Text style={{ fontSize: 36, fontWeight: 'bold', color: '#1E293B', lineHeight: 1.2 }}&gt;&#10;      我踩过的七个坑，你可以直接跳过&#10;    &lt;/Text&gt;&#10;    &lt;Box style={{ width: '100%', height: 1, background: '#E5E7EB' }} /&gt;&#10;  &lt;/Box&gt;&#10;  &lt;Box style={{ flexDirection: 'column', gap: 6, flex: 1 }}&gt;&#10;    {[&#10;      { n: '1', a: '一次让它改 5 个文件', b: '出问题不知道哪一处', c: '一次一个任务', hot: false },&#10;      { n: '2', a: '问「还有问题吗」', b: '回答「没有」或一堆无关的', c: '给它能失败的判据', hot: false },&#10;      { n: '3', a: '相信「测试全部通过」', b: '三次全绿，三次都是事后才发现的', c: '自己在真库跑一遍', hot: false },&#10;      { n: '4', a: '让它「优化一下结构」', b: '顺手改掉你不想要的', c: '明确只改 X，不许动 Y', hot: false },&#10;      { n: '5', a: '跳过文档回写', b: '四处文档与实现对不上', c: '代码改完立刻回写', hot: false },&#10;      { n: '6', a: '术语在多处各写一遍', b: '45 分钟双出口死锁', c: '定义只写一处，其他只引用', hot: true },&#10;      { n: '7', a: '用「最佳实践」当理由', b: '无法反驳也无法执行', c: '要求「因为…所以…」', hot: false },&#10;    ].map((r, i) =&gt; (&#10;      &lt;Box key={i} style={{ flexDirection: 'row', gap: 12, alignItems: 'center', background: r.hot ? '#FEF2F2' : '#F8FAFC', border: `1px solid ${r.hot ? '#FECACA' : '#E5E7EB'}`, borderRadius: 8, padding: 8 }}&gt;&#10;        &lt;Text style={{ width: 24, fontSize: 16, fontWeight: 'bold', color: r.hot ? '#DC2626' : '#94A3B8' }}&gt;{r.n}&lt;/Text&gt;&#10;        &lt;Text style={{ flex: 1, fontSize: 15, color: '#1E293B', lineHeight: 1.4 }}&gt;{r.a}&lt;/Text&gt;&#10;        &lt;Text style={{ flex: 1, fontSize: 15, color: '#64748B', lineHeight: 1.4 }}&gt;{r.b}&lt;/Text&gt;&#10;        &lt;Text style={{ flex: 1, fontSize: 15, fontWeight: 'bold', color: '#2563EB', lineHeight: 1.4 }}&gt;{r.c}&lt;/Text&gt;&#10;      &lt;/Box&gt;&#10;    ))}&#10;  &lt;/Box&gt;&#10;  &lt;Box style={{ background: '#FEF3C7', borderRadius: 8, padding: 12, marginTop: 14 }}&gt;&#10;    &lt;Text style={{ fontSize: 15, color: '#1E293B', lineHeight: 1.45 }}&gt;&#10;      第 6 条是最贵的一条：它不是浪费时间，它是&lt;span style={{ fontWeight: 'bold', color: '#B45309' }}&gt;制造死锁&lt;/span&gt;——「进度」这个词在两处被写成两个意思，就是双出口死锁的根因。&#10;    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我踩过的七个坑，你可以直接跳过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571500" y="1181100"/>
            <a:ext cx="11049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57" name=""/>
          <p:cNvSpPr/>
          <p:nvPr/>
        </p:nvSpPr>
        <p:spPr>
          <a:xfrm rot="0" flipH="0" flipV="0">
            <a:off x="571500" y="1362075"/>
            <a:ext cx="11049000" cy="400050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47700" y="1466850"/>
            <a:ext cx="22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94A3B8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990600" y="1438275"/>
            <a:ext cx="34385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一次让它改</a:t>
            </a:r>
            <a:r>
              <a:rPr lang="en-US" sz="1125">
                <a:solidFill>
                  <a:srgbClr val="1E293B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个文件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4543425" y="1438275"/>
            <a:ext cx="34480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出问题不知道哪一处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8105775" y="1438275"/>
            <a:ext cx="34385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2563EB"/>
                </a:solidFill>
                <a:latin typeface="Microsoft YaHei"/>
                <a:ea typeface="Microsoft YaHei"/>
              </a:rPr>
              <a:t>一次一个任务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571500" y="1819275"/>
            <a:ext cx="11049000" cy="400050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47700" y="1924050"/>
            <a:ext cx="22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94A3B8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990600" y="1895475"/>
            <a:ext cx="34385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问「还有问题吗」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4543425" y="1895475"/>
            <a:ext cx="34480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回答「没有」或一堆无关的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8105775" y="1895475"/>
            <a:ext cx="34385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2563EB"/>
                </a:solidFill>
                <a:latin typeface="Microsoft YaHei"/>
                <a:ea typeface="Microsoft YaHei"/>
              </a:rPr>
              <a:t>给它能失败的判据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571500" y="2276475"/>
            <a:ext cx="11049000" cy="400050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47700" y="2381250"/>
            <a:ext cx="22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94A3B8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990600" y="2352675"/>
            <a:ext cx="34385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相信「测试全部通过」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4543425" y="2352675"/>
            <a:ext cx="34480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三次全绿，三次都是事后才发现的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8105775" y="2352675"/>
            <a:ext cx="34385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2563EB"/>
                </a:solidFill>
                <a:latin typeface="Microsoft YaHei"/>
                <a:ea typeface="Microsoft YaHei"/>
              </a:rPr>
              <a:t>自己在真库跑一遍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571500" y="2733675"/>
            <a:ext cx="11049000" cy="400050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47700" y="2838450"/>
            <a:ext cx="22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94A3B8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990600" y="2809875"/>
            <a:ext cx="34385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让它「优化一下结构」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4543425" y="2809875"/>
            <a:ext cx="34480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顺手改掉你不想要的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8105775" y="2809875"/>
            <a:ext cx="34385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2563EB"/>
                </a:solidFill>
                <a:latin typeface="Microsoft YaHei"/>
                <a:ea typeface="Microsoft YaHei"/>
              </a:rPr>
              <a:t>明确只改</a:t>
            </a:r>
            <a:r>
              <a:rPr lang="en-US" sz="1125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X</a:t>
            </a:r>
            <a:r>
              <a:rPr lang="zh-CN" sz="1125" b="1">
                <a:solidFill>
                  <a:srgbClr val="2563EB"/>
                </a:solidFill>
                <a:latin typeface="Microsoft YaHei"/>
                <a:ea typeface="Microsoft YaHei"/>
              </a:rPr>
              <a:t>，不许动</a:t>
            </a:r>
            <a:r>
              <a:rPr lang="en-US" sz="1125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Y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571500" y="3190875"/>
            <a:ext cx="11049000" cy="400050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47700" y="3295650"/>
            <a:ext cx="22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94A3B8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990600" y="3267075"/>
            <a:ext cx="34385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跳过文档回写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4543425" y="3267075"/>
            <a:ext cx="34480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四处文档与实现对不上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105775" y="3267075"/>
            <a:ext cx="34385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2563EB"/>
                </a:solidFill>
                <a:latin typeface="Microsoft YaHei"/>
                <a:ea typeface="Microsoft YaHei"/>
              </a:rPr>
              <a:t>代码改完立刻回写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571500" y="3648075"/>
            <a:ext cx="11049000" cy="400050"/>
          </a:xfrm>
          <a:prstGeom prst="roundRect">
            <a:avLst>
              <a:gd name="adj" fmla="val 1904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47700" y="3752850"/>
            <a:ext cx="22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C2626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990600" y="3724275"/>
            <a:ext cx="34385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术语在多处各写一遍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4543425" y="3724275"/>
            <a:ext cx="34480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45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分钟双出口死锁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8105775" y="3724275"/>
            <a:ext cx="34385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2563EB"/>
                </a:solidFill>
                <a:latin typeface="Microsoft YaHei"/>
                <a:ea typeface="Microsoft YaHei"/>
              </a:rPr>
              <a:t>定义只写一处，其他只引用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571500" y="4105275"/>
            <a:ext cx="11049000" cy="400050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47700" y="4210050"/>
            <a:ext cx="22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94A3B8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990600" y="4181475"/>
            <a:ext cx="34385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用「最佳实践」当理由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4543425" y="4181475"/>
            <a:ext cx="34480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无法反驳也无法执行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105775" y="4181475"/>
            <a:ext cx="34385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2563EB"/>
                </a:solidFill>
                <a:latin typeface="Microsoft YaHei"/>
                <a:ea typeface="Microsoft YaHei"/>
              </a:rPr>
              <a:t>要求「因为…所以…」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571500" y="5800725"/>
            <a:ext cx="11049000" cy="485775"/>
          </a:xfrm>
          <a:prstGeom prst="roundRect">
            <a:avLst>
              <a:gd name="adj" fmla="val 15686"/>
            </a:avLst>
          </a:prstGeom>
          <a:solidFill>
            <a:srgbClr val="FEF3C7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685800" y="5915025"/>
            <a:ext cx="108204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第</a:t>
            </a:r>
            <a:r>
              <a:rPr lang="en-US" sz="1125">
                <a:solidFill>
                  <a:srgbClr val="1E293B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条是最贵的一条：它不是浪费时间，它是</a:t>
            </a:r>
            <a:r>
              <a:rPr lang="zh-CN" sz="1125" b="1">
                <a:solidFill>
                  <a:srgbClr val="B45309"/>
                </a:solidFill>
                <a:latin typeface="Microsoft YaHei"/>
                <a:ea typeface="Microsoft YaHei"/>
              </a:rPr>
              <a:t>制造死锁</a:t>
            </a: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——「进度」这个词在两处被写成两个意思，就是双出口死锁的根因。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94" name="" descr="&lt;Slide style={{ padding: 60, background: '#FFFFFF' }}&gt;&#10;  &lt;Box style={{ flexDirection: 'column', gap: 12, marginBottom: 18 }}&gt;&#10;    &lt;Text style={{ fontSize: 36, fontWeight: 'bold', color: '#1E293B', lineHeight: 1.2 }}&gt;&#10;      复现步骤（上）：环境与骨架，约 2 天&#10;    &lt;/Text&gt;&#10;    &lt;Box style={{ width: '100%', height: 1, background: '#E5E7EB' }} /&gt;&#10;  &lt;/Box&gt;&#10;  &lt;Box style={{ flexDirection: 'column', gap: 4, flex: 1 }}&gt;&#10;    {[&#10;      ['1', '装 Docker，起 PG 16 + Redis 7', 'docker compose up 后 select version() 返回 16.x'],&#10;      ['2', '建仓库，写 README + 分支与提交规范', '提交信息能被一眼看懂'],&#10;      ['3', '用 Prompt 1（第 6 页）做架构设计', '产出 5 项：模块/DDL/索引/并发/不做'],&#10;      ['4', '建目录骨架 + 配置 + 日志 + /health', 'curl /health 返回 200'],&#10;      ['5', '写 14 张数据模型 + 初始迁移', 'upgrade head 成功，且能 downgrade base 再回来'],&#10;      ['6', '写配置种子（参数化）', '改一行配置，不用重启就生效'],&#10;      ['7', '写错误码 + 统一响应信封', '故意抛一个异常，返回结构符合信封'],&#10;      ['8', '写列宽自检（Prompt 3，第 11 页）', '先故意改坏一列，看它必须失败'],&#10;      ['9', '打第一个标签', 'git tag 能看到'],&#10;    ].map((r, i) =&gt; (&#10;      &lt;Box key={i} style={{ flexDirection: 'row', gap: 12, alignItems: 'center', borderBottom: '1px solid #F1F5F9', paddingVertical: 5 }}&gt;&#10;        &lt;Box style={{ width: 26, height: 26, background: r[0] === '8' ? '#F59E0B' : '#2563EB', borderRadius: 13, alignItems: 'center', justifyContent: 'center' }}&gt;&#10;          &lt;Text style={{ fontSize: 13, fontWeight: 'bold', color: '#FFFFFF' }}&gt;{r[0]}&lt;/Text&gt;&#10;        &lt;/Box&gt;&#10;        &lt;Text style={{ flex: 1, fontSize: 15, color: '#1E293B', lineHeight: 1.4 }}&gt;{r[1]}&lt;/Text&gt;&#10;        &lt;Text style={{ flex: 1.2, fontSize: 14, color: '#64748B', lineHeight: 1.4, fontFamily: 'Consolas, monospace' }}&gt;{r[2]}&lt;/Text&gt;&#10;      &lt;/Box&gt;&#10;    ))}&#10;  &lt;/Box&gt;&#10;  &lt;Box style={{ background: '#FEF3C7', borderRadius: 8, padding: 12, marginTop: 12 }}&gt;&#10;    &lt;Text style={{ fontSize: 15, color: '#1E293B', lineHeight: 1.45 }}&gt;&#10;      &lt;span style={{ fontWeight: 'bold', color: '#B45309' }}&gt;第 8 步放在这里而不是最后&lt;/span&gt;——它越早存在，收益越大；第 5 步的「能降回 base」很重要：只有前进没有回退的迁移，改一次表就得重建库。&#10;    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复现步骤（上）：环境与骨架，约</a:t>
            </a:r>
            <a:r>
              <a:rPr lang="en-US" sz="27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571500" y="1181100"/>
            <a:ext cx="11049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98" name=""/>
          <p:cNvSpPr/>
          <p:nvPr/>
        </p:nvSpPr>
        <p:spPr>
          <a:xfrm rot="0" flipH="0" flipV="0">
            <a:off x="571500" y="1362075"/>
            <a:ext cx="11049000" cy="266700"/>
          </a:xfrm>
          <a:custGeom>
            <a:pathLst>
              <a:path w="1160" h="28">
                <a:moveTo>
                  <a:pt x="0" y="27"/>
                </a:moveTo>
                <a:lnTo>
                  <a:pt x="1160" y="27"/>
                </a:lnTo>
                <a:lnTo>
                  <a:pt x="1160" y="28"/>
                </a:lnTo>
                <a:lnTo>
                  <a:pt x="0" y="28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199" name=""/>
          <p:cNvSpPr/>
          <p:nvPr/>
        </p:nvSpPr>
        <p:spPr>
          <a:xfrm rot="0" flipH="0" flipV="0">
            <a:off x="571500" y="136207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57225" y="1409700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933450" y="1362075"/>
            <a:ext cx="48101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装</a:t>
            </a:r>
            <a:r>
              <a:rPr lang="en-US" sz="1125">
                <a:solidFill>
                  <a:srgbClr val="1E293B"/>
                </a:solidFill>
                <a:latin typeface="Microsoft YaHei"/>
                <a:ea typeface="Microsoft YaHei"/>
              </a:rPr>
              <a:t xml:space="preserve"> Docker</a:t>
            </a: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，起</a:t>
            </a:r>
            <a:r>
              <a:rPr lang="en-US" sz="1125">
                <a:solidFill>
                  <a:srgbClr val="1E293B"/>
                </a:solidFill>
                <a:latin typeface="Microsoft YaHei"/>
                <a:ea typeface="Microsoft YaHei"/>
              </a:rPr>
              <a:t xml:space="preserve"> PG 16 + Redis 7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5857875" y="1371600"/>
            <a:ext cx="576262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 xml:space="preserve">docker compose up </a:t>
            </a:r>
            <a:r>
              <a:rPr lang="zh-CN" sz="1050">
                <a:solidFill>
                  <a:srgbClr val="64748B"/>
                </a:solidFill>
                <a:latin typeface="Consolas"/>
                <a:ea typeface="Consolas"/>
              </a:rPr>
              <a:t>后</a:t>
            </a: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 xml:space="preserve"> select version() </a:t>
            </a:r>
            <a:r>
              <a:rPr lang="zh-CN" sz="1050">
                <a:solidFill>
                  <a:srgbClr val="64748B"/>
                </a:solidFill>
                <a:latin typeface="Consolas"/>
                <a:ea typeface="Consolas"/>
              </a:rPr>
              <a:t>返回</a:t>
            </a: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 xml:space="preserve"> 16.x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571500" y="1657350"/>
            <a:ext cx="11049000" cy="266700"/>
          </a:xfrm>
          <a:custGeom>
            <a:pathLst>
              <a:path w="1160" h="28">
                <a:moveTo>
                  <a:pt x="0" y="27"/>
                </a:moveTo>
                <a:lnTo>
                  <a:pt x="1160" y="27"/>
                </a:lnTo>
                <a:lnTo>
                  <a:pt x="1160" y="28"/>
                </a:lnTo>
                <a:lnTo>
                  <a:pt x="0" y="28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204" name=""/>
          <p:cNvSpPr/>
          <p:nvPr/>
        </p:nvSpPr>
        <p:spPr>
          <a:xfrm rot="0" flipH="0" flipV="0">
            <a:off x="571500" y="16573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57225" y="1704975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933450" y="1657350"/>
            <a:ext cx="48101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建仓库，写</a:t>
            </a:r>
            <a:r>
              <a:rPr lang="en-US" sz="1125">
                <a:solidFill>
                  <a:srgbClr val="1E293B"/>
                </a:solidFill>
                <a:latin typeface="Microsoft YaHei"/>
                <a:ea typeface="Microsoft YaHei"/>
              </a:rPr>
              <a:t xml:space="preserve"> README + </a:t>
            </a: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分支与提交规范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5857875" y="1666875"/>
            <a:ext cx="576262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Consolas"/>
                <a:ea typeface="Consolas"/>
              </a:rPr>
              <a:t>提交信息能被一眼看懂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571500" y="1952625"/>
            <a:ext cx="11049000" cy="266700"/>
          </a:xfrm>
          <a:custGeom>
            <a:pathLst>
              <a:path w="1160" h="28">
                <a:moveTo>
                  <a:pt x="0" y="27"/>
                </a:moveTo>
                <a:lnTo>
                  <a:pt x="1160" y="27"/>
                </a:lnTo>
                <a:lnTo>
                  <a:pt x="1160" y="28"/>
                </a:lnTo>
                <a:lnTo>
                  <a:pt x="0" y="28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209" name=""/>
          <p:cNvSpPr/>
          <p:nvPr/>
        </p:nvSpPr>
        <p:spPr>
          <a:xfrm rot="0" flipH="0" flipV="0">
            <a:off x="571500" y="195262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57225" y="2000250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933450" y="1952625"/>
            <a:ext cx="48101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用</a:t>
            </a:r>
            <a:r>
              <a:rPr lang="en-US" sz="1125">
                <a:solidFill>
                  <a:srgbClr val="1E293B"/>
                </a:solidFill>
                <a:latin typeface="Microsoft YaHei"/>
                <a:ea typeface="Microsoft YaHei"/>
              </a:rPr>
              <a:t xml:space="preserve"> Prompt 1</a:t>
            </a: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（第</a:t>
            </a:r>
            <a:r>
              <a:rPr lang="en-US" sz="1125">
                <a:solidFill>
                  <a:srgbClr val="1E293B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页）做架构设计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5857875" y="1962150"/>
            <a:ext cx="576262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Consolas"/>
                <a:ea typeface="Consolas"/>
              </a:rPr>
              <a:t>产出</a:t>
            </a: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 xml:space="preserve"> 5 </a:t>
            </a:r>
            <a:r>
              <a:rPr lang="zh-CN" sz="1050">
                <a:solidFill>
                  <a:srgbClr val="64748B"/>
                </a:solidFill>
                <a:latin typeface="Consolas"/>
                <a:ea typeface="Consolas"/>
              </a:rPr>
              <a:t>项：模块</a:t>
            </a: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/DDL/</a:t>
            </a:r>
            <a:r>
              <a:rPr lang="zh-CN" sz="1050">
                <a:solidFill>
                  <a:srgbClr val="64748B"/>
                </a:solidFill>
                <a:latin typeface="Consolas"/>
                <a:ea typeface="Consolas"/>
              </a:rPr>
              <a:t>索引</a:t>
            </a: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/</a:t>
            </a:r>
            <a:r>
              <a:rPr lang="zh-CN" sz="1050">
                <a:solidFill>
                  <a:srgbClr val="64748B"/>
                </a:solidFill>
                <a:latin typeface="Consolas"/>
                <a:ea typeface="Consolas"/>
              </a:rPr>
              <a:t>并发</a:t>
            </a: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/</a:t>
            </a:r>
            <a:r>
              <a:rPr lang="zh-CN" sz="1050">
                <a:solidFill>
                  <a:srgbClr val="64748B"/>
                </a:solidFill>
                <a:latin typeface="Consolas"/>
                <a:ea typeface="Consolas"/>
              </a:rPr>
              <a:t>不做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571500" y="2247900"/>
            <a:ext cx="11049000" cy="266700"/>
          </a:xfrm>
          <a:custGeom>
            <a:pathLst>
              <a:path w="1160" h="28">
                <a:moveTo>
                  <a:pt x="0" y="27"/>
                </a:moveTo>
                <a:lnTo>
                  <a:pt x="1160" y="27"/>
                </a:lnTo>
                <a:lnTo>
                  <a:pt x="1160" y="28"/>
                </a:lnTo>
                <a:lnTo>
                  <a:pt x="0" y="28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214" name=""/>
          <p:cNvSpPr/>
          <p:nvPr/>
        </p:nvSpPr>
        <p:spPr>
          <a:xfrm rot="0" flipH="0" flipV="0">
            <a:off x="571500" y="224790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57225" y="2295525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933450" y="2247900"/>
            <a:ext cx="48101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建目录骨架</a:t>
            </a:r>
            <a:r>
              <a:rPr lang="en-US" sz="1125">
                <a:solidFill>
                  <a:srgbClr val="1E293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配置</a:t>
            </a:r>
            <a:r>
              <a:rPr lang="en-US" sz="1125">
                <a:solidFill>
                  <a:srgbClr val="1E293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日志</a:t>
            </a:r>
            <a:r>
              <a:rPr lang="en-US" sz="1125">
                <a:solidFill>
                  <a:srgbClr val="1E293B"/>
                </a:solidFill>
                <a:latin typeface="Microsoft YaHei"/>
                <a:ea typeface="Microsoft YaHei"/>
              </a:rPr>
              <a:t xml:space="preserve"> + /health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5857875" y="2257425"/>
            <a:ext cx="576262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 xml:space="preserve">curl /health </a:t>
            </a:r>
            <a:r>
              <a:rPr lang="zh-CN" sz="1050">
                <a:solidFill>
                  <a:srgbClr val="64748B"/>
                </a:solidFill>
                <a:latin typeface="Consolas"/>
                <a:ea typeface="Consolas"/>
              </a:rPr>
              <a:t>返回</a:t>
            </a: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 xml:space="preserve"> 200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571500" y="2543175"/>
            <a:ext cx="11049000" cy="266700"/>
          </a:xfrm>
          <a:custGeom>
            <a:pathLst>
              <a:path w="1160" h="28">
                <a:moveTo>
                  <a:pt x="0" y="27"/>
                </a:moveTo>
                <a:lnTo>
                  <a:pt x="1160" y="27"/>
                </a:lnTo>
                <a:lnTo>
                  <a:pt x="1160" y="28"/>
                </a:lnTo>
                <a:lnTo>
                  <a:pt x="0" y="28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219" name=""/>
          <p:cNvSpPr/>
          <p:nvPr/>
        </p:nvSpPr>
        <p:spPr>
          <a:xfrm rot="0" flipH="0" flipV="0">
            <a:off x="571500" y="254317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57225" y="2590800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933450" y="2543175"/>
            <a:ext cx="48101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写</a:t>
            </a:r>
            <a:r>
              <a:rPr lang="en-US" sz="1125">
                <a:solidFill>
                  <a:srgbClr val="1E293B"/>
                </a:solidFill>
                <a:latin typeface="Microsoft YaHei"/>
                <a:ea typeface="Microsoft YaHei"/>
              </a:rPr>
              <a:t xml:space="preserve"> 14 </a:t>
            </a: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张数据模型</a:t>
            </a:r>
            <a:r>
              <a:rPr lang="en-US" sz="1125">
                <a:solidFill>
                  <a:srgbClr val="1E293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初始迁移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5857875" y="2552700"/>
            <a:ext cx="576262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 xml:space="preserve">upgrade head </a:t>
            </a:r>
            <a:r>
              <a:rPr lang="zh-CN" sz="1050">
                <a:solidFill>
                  <a:srgbClr val="64748B"/>
                </a:solidFill>
                <a:latin typeface="Consolas"/>
                <a:ea typeface="Consolas"/>
              </a:rPr>
              <a:t>成功，且能</a:t>
            </a: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 xml:space="preserve"> downgrade base </a:t>
            </a:r>
            <a:r>
              <a:rPr lang="zh-CN" sz="1050">
                <a:solidFill>
                  <a:srgbClr val="64748B"/>
                </a:solidFill>
                <a:latin typeface="Consolas"/>
                <a:ea typeface="Consolas"/>
              </a:rPr>
              <a:t>再回来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571500" y="2838450"/>
            <a:ext cx="11049000" cy="266700"/>
          </a:xfrm>
          <a:custGeom>
            <a:pathLst>
              <a:path w="1160" h="28">
                <a:moveTo>
                  <a:pt x="0" y="27"/>
                </a:moveTo>
                <a:lnTo>
                  <a:pt x="1160" y="27"/>
                </a:lnTo>
                <a:lnTo>
                  <a:pt x="1160" y="28"/>
                </a:lnTo>
                <a:lnTo>
                  <a:pt x="0" y="28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224" name=""/>
          <p:cNvSpPr/>
          <p:nvPr/>
        </p:nvSpPr>
        <p:spPr>
          <a:xfrm rot="0" flipH="0" flipV="0">
            <a:off x="571500" y="28384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657225" y="2886075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933450" y="2838450"/>
            <a:ext cx="48101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写配置种子（参数化）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5857875" y="2847975"/>
            <a:ext cx="576262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Consolas"/>
                <a:ea typeface="Consolas"/>
              </a:rPr>
              <a:t>改一行配置，不用重启就生效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571500" y="3133725"/>
            <a:ext cx="11049000" cy="266700"/>
          </a:xfrm>
          <a:custGeom>
            <a:pathLst>
              <a:path w="1160" h="28">
                <a:moveTo>
                  <a:pt x="0" y="27"/>
                </a:moveTo>
                <a:lnTo>
                  <a:pt x="1160" y="27"/>
                </a:lnTo>
                <a:lnTo>
                  <a:pt x="1160" y="28"/>
                </a:lnTo>
                <a:lnTo>
                  <a:pt x="0" y="28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229" name=""/>
          <p:cNvSpPr/>
          <p:nvPr/>
        </p:nvSpPr>
        <p:spPr>
          <a:xfrm rot="0" flipH="0" flipV="0">
            <a:off x="571500" y="313372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657225" y="3181350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933450" y="3133725"/>
            <a:ext cx="48101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写错误码</a:t>
            </a:r>
            <a:r>
              <a:rPr lang="en-US" sz="1125">
                <a:solidFill>
                  <a:srgbClr val="1E293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统一响应信封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5857875" y="3143250"/>
            <a:ext cx="576262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Consolas"/>
                <a:ea typeface="Consolas"/>
              </a:rPr>
              <a:t>故意抛一个异常，返回结构符合信封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571500" y="3429000"/>
            <a:ext cx="11049000" cy="266700"/>
          </a:xfrm>
          <a:custGeom>
            <a:pathLst>
              <a:path w="1160" h="28">
                <a:moveTo>
                  <a:pt x="0" y="27"/>
                </a:moveTo>
                <a:lnTo>
                  <a:pt x="1160" y="27"/>
                </a:lnTo>
                <a:lnTo>
                  <a:pt x="1160" y="28"/>
                </a:lnTo>
                <a:lnTo>
                  <a:pt x="0" y="28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234" name=""/>
          <p:cNvSpPr/>
          <p:nvPr/>
        </p:nvSpPr>
        <p:spPr>
          <a:xfrm rot="0" flipH="0" flipV="0">
            <a:off x="571500" y="342900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57225" y="3476625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8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933450" y="3429000"/>
            <a:ext cx="48101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写列宽自检（</a:t>
            </a:r>
            <a:r>
              <a:rPr lang="en-US" sz="1125">
                <a:solidFill>
                  <a:srgbClr val="1E293B"/>
                </a:solidFill>
                <a:latin typeface="Microsoft YaHei"/>
                <a:ea typeface="Microsoft YaHei"/>
              </a:rPr>
              <a:t>Prompt 3</a:t>
            </a: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，第</a:t>
            </a:r>
            <a:r>
              <a:rPr lang="en-US" sz="1125">
                <a:solidFill>
                  <a:srgbClr val="1E293B"/>
                </a:solidFill>
                <a:latin typeface="Microsoft YaHei"/>
                <a:ea typeface="Microsoft YaHei"/>
              </a:rPr>
              <a:t xml:space="preserve"> 11 </a:t>
            </a: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页）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5857875" y="3438525"/>
            <a:ext cx="576262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Consolas"/>
                <a:ea typeface="Consolas"/>
              </a:rPr>
              <a:t>先故意改坏一列，看它必须失败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571500" y="3724275"/>
            <a:ext cx="11049000" cy="266700"/>
          </a:xfrm>
          <a:custGeom>
            <a:pathLst>
              <a:path w="1160" h="28">
                <a:moveTo>
                  <a:pt x="0" y="27"/>
                </a:moveTo>
                <a:lnTo>
                  <a:pt x="1160" y="27"/>
                </a:lnTo>
                <a:lnTo>
                  <a:pt x="1160" y="28"/>
                </a:lnTo>
                <a:lnTo>
                  <a:pt x="0" y="28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239" name=""/>
          <p:cNvSpPr/>
          <p:nvPr/>
        </p:nvSpPr>
        <p:spPr>
          <a:xfrm rot="0" flipH="0" flipV="0">
            <a:off x="571500" y="372427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657225" y="3771900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9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933450" y="3724275"/>
            <a:ext cx="48101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打第一个标签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5857875" y="3733800"/>
            <a:ext cx="576262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 xml:space="preserve">git tag </a:t>
            </a:r>
            <a:r>
              <a:rPr lang="zh-CN" sz="1050">
                <a:solidFill>
                  <a:srgbClr val="64748B"/>
                </a:solidFill>
                <a:latin typeface="Consolas"/>
                <a:ea typeface="Consolas"/>
              </a:rPr>
              <a:t>能看到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571500" y="5800725"/>
            <a:ext cx="11049000" cy="485775"/>
          </a:xfrm>
          <a:prstGeom prst="roundRect">
            <a:avLst>
              <a:gd name="adj" fmla="val 15686"/>
            </a:avLst>
          </a:prstGeom>
          <a:solidFill>
            <a:srgbClr val="FEF3C7"/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85800" y="5915025"/>
            <a:ext cx="108204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 b="1">
                <a:solidFill>
                  <a:srgbClr val="B45309"/>
                </a:solidFill>
                <a:latin typeface="Microsoft YaHei"/>
                <a:ea typeface="Microsoft YaHei"/>
              </a:rPr>
              <a:t>第</a:t>
            </a:r>
            <a:r>
              <a:rPr lang="en-US" sz="1125" b="1">
                <a:solidFill>
                  <a:srgbClr val="B45309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125" b="1">
                <a:solidFill>
                  <a:srgbClr val="B45309"/>
                </a:solidFill>
                <a:latin typeface="Microsoft YaHei"/>
                <a:ea typeface="Microsoft YaHei"/>
              </a:rPr>
              <a:t>步放在这里而不是最后</a:t>
            </a: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——它越早存在，收益越大；第</a:t>
            </a:r>
            <a:r>
              <a:rPr lang="en-US" sz="1125">
                <a:solidFill>
                  <a:srgbClr val="1E293B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步的「能降回</a:t>
            </a:r>
            <a:r>
              <a:rPr lang="en-US" sz="1125">
                <a:solidFill>
                  <a:srgbClr val="1E293B"/>
                </a:solidFill>
                <a:latin typeface="Microsoft YaHei"/>
                <a:ea typeface="Microsoft YaHei"/>
              </a:rPr>
              <a:t xml:space="preserve"> base</a:t>
            </a: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」很重要：只有前进没有回退的迁移，改一次表就得重建库。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45" name="" descr="&lt;Slide style={{ padding: 60, background: '#FFFFFF' }}&gt;&#10;  &lt;Box style={{ flexDirection: 'column', gap: 12, marginBottom: 18 }}&gt;&#10;    &lt;Text style={{ fontSize: 36, fontWeight: 'bold', color: '#1E293B', lineHeight: 1.2 }}&gt;&#10;      复现步骤（下）：核心与验证，约 3 天&#10;    &lt;/Text&gt;&#10;    &lt;Box style={{ width: '100%', height: 1, background: '#E5E7EB' }} /&gt;&#10;  &lt;/Box&gt;&#10;  &lt;Box style={{ flexDirection: 'column', gap: 4, flex: 1 }}&gt;&#10;    {[&#10;      ['10', '状态迁移表逐行落地（17 条）', '状态 × 动作矩阵穷举，非法迁移返回特定码', false],&#10;      ['11', '写两个零人工出口守卫（Prompt 2）', '45 分 00 秒允许 / 44 分 59 秒拒绝', false],&#10;      ['12', '真实仓储：CAS + 序号 + 约束映射', '唯一索引冲突返回业务码，不是 500', false],&#10;      ['13', 'Redis + Lua：抢单锁 + 频控', '清掉脚本缓存后再抢，仍能正常工作', false],&#10;      ['14', '抢单接口：三道闸', '20 并发 → count(*) == 1', false],&#10;      ['15', '发单接口：敏感字段加密 + 区间校验', '库里查不到明文取件码', false],&#10;      ['16', '注册登录 + 大厅 + 详情', '游标分页翻到最后一页不重不漏', false],&#10;      ['17', '所有结论在真 PG + 真 Redis 上重跑', '全绿，且是你自己跑过', true],&#10;      ['18', '回写文档，删掉过期内容；打标签', '文档里的数字与仓库一致', false],&#10;    ].map((r, i) =&gt; (&#10;      &lt;Box key={i} style={{ flexDirection: 'row', gap: 12, alignItems: 'center', background: r[3] ? '#EFF6FF' : 'transparent', border: r[3] ? '1px solid #BFDBFE' : 'none', borderBottom: r[3] ? '1px solid #BFDBFE' : '1px solid #F1F5F9', borderRadius: r[3] ? 8 : 0, paddingVertical: 5, paddingHorizontal: r[3] ? 10 : 0 }}&gt;&#10;        &lt;Box style={{ width: 26, height: 26, background: r[3] ? '#2563EB' : '#94A3B8', borderRadius: 13, alignItems: 'center', justifyContent: 'center' }}&gt;&#10;          &lt;Text style={{ fontSize: 13, fontWeight: 'bold', color: '#FFFFFF' }}&gt;{r[0]}&lt;/Text&gt;&#10;        &lt;/Box&gt;&#10;        &lt;Text style={{ flex: 1, fontSize: 15, color: '#1E293B', lineHeight: 1.4 }}&gt;{r[1]}&lt;/Text&gt;&#10;        &lt;Text style={{ flex: 1.2, fontSize: 14, color: '#64748B', lineHeight: 1.4, fontFamily: 'Consolas, monospace' }}&gt;{r[2]}&lt;/Text&gt;&#10;      &lt;/Box&gt;&#10;    ))}&#10;  &lt;/Box&gt;&#10;  &lt;Box style={{ background: '#2563EB', borderRadius: 8, padding: 12, marginTop: 12 }}&gt;&#10;    &lt;Text style={{ fontSize: 15, color: '#FFFFFF', lineHeight: 1.45 }}&gt;&#10;      第 17 步是整份清单里最重要的一步：&lt;span style={{ fontWeight: 'bold' }}&gt;不是「跑过」，是「你自己跑过」&lt;/span&gt;——这两个差得很远。&#10;    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复现步骤（下）：核心与验证，约</a:t>
            </a:r>
            <a:r>
              <a:rPr lang="en-US" sz="27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571500" y="1181100"/>
            <a:ext cx="11049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249" name=""/>
          <p:cNvSpPr/>
          <p:nvPr/>
        </p:nvSpPr>
        <p:spPr>
          <a:xfrm rot="0" flipH="0" flipV="0">
            <a:off x="571500" y="1362075"/>
            <a:ext cx="11049000" cy="266700"/>
          </a:xfrm>
          <a:custGeom>
            <a:pathLst>
              <a:path w="1160" h="28">
                <a:moveTo>
                  <a:pt x="0" y="27"/>
                </a:moveTo>
                <a:lnTo>
                  <a:pt x="1160" y="27"/>
                </a:lnTo>
                <a:lnTo>
                  <a:pt x="1160" y="28"/>
                </a:lnTo>
                <a:lnTo>
                  <a:pt x="0" y="28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250" name=""/>
          <p:cNvSpPr/>
          <p:nvPr/>
        </p:nvSpPr>
        <p:spPr>
          <a:xfrm rot="0" flipH="0" flipV="0">
            <a:off x="571500" y="136207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19125" y="1409700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933450" y="1362075"/>
            <a:ext cx="48101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状态迁移表逐行落地（</a:t>
            </a:r>
            <a:r>
              <a:rPr lang="en-US" sz="1125">
                <a:solidFill>
                  <a:srgbClr val="1E293B"/>
                </a:solidFill>
                <a:latin typeface="Microsoft YaHei"/>
                <a:ea typeface="Microsoft YaHei"/>
              </a:rPr>
              <a:t xml:space="preserve">17 </a:t>
            </a: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条）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5857875" y="1371600"/>
            <a:ext cx="576262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Consolas"/>
                <a:ea typeface="Consolas"/>
              </a:rPr>
              <a:t>状态</a:t>
            </a: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 xml:space="preserve"> × </a:t>
            </a:r>
            <a:r>
              <a:rPr lang="zh-CN" sz="1050">
                <a:solidFill>
                  <a:srgbClr val="64748B"/>
                </a:solidFill>
                <a:latin typeface="Consolas"/>
                <a:ea typeface="Consolas"/>
              </a:rPr>
              <a:t>动作矩阵穷举，非法迁移返回特定码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571500" y="1657350"/>
            <a:ext cx="11049000" cy="266700"/>
          </a:xfrm>
          <a:custGeom>
            <a:pathLst>
              <a:path w="1160" h="28">
                <a:moveTo>
                  <a:pt x="0" y="27"/>
                </a:moveTo>
                <a:lnTo>
                  <a:pt x="1160" y="27"/>
                </a:lnTo>
                <a:lnTo>
                  <a:pt x="1160" y="28"/>
                </a:lnTo>
                <a:lnTo>
                  <a:pt x="0" y="28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255" name=""/>
          <p:cNvSpPr/>
          <p:nvPr/>
        </p:nvSpPr>
        <p:spPr>
          <a:xfrm rot="0" flipH="0" flipV="0">
            <a:off x="571500" y="16573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619125" y="1704975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11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933450" y="1657350"/>
            <a:ext cx="48101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写两个零人工出口守卫（</a:t>
            </a:r>
            <a:r>
              <a:rPr lang="en-US" sz="1125">
                <a:solidFill>
                  <a:srgbClr val="1E293B"/>
                </a:solidFill>
                <a:latin typeface="Microsoft YaHei"/>
                <a:ea typeface="Microsoft YaHei"/>
              </a:rPr>
              <a:t>Prompt 2</a:t>
            </a: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5857875" y="1666875"/>
            <a:ext cx="576262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 xml:space="preserve">45 </a:t>
            </a:r>
            <a:r>
              <a:rPr lang="zh-CN" sz="1050">
                <a:solidFill>
                  <a:srgbClr val="64748B"/>
                </a:solidFill>
                <a:latin typeface="Consolas"/>
                <a:ea typeface="Consolas"/>
              </a:rPr>
              <a:t>分</a:t>
            </a: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 xml:space="preserve"> 00 </a:t>
            </a:r>
            <a:r>
              <a:rPr lang="zh-CN" sz="1050">
                <a:solidFill>
                  <a:srgbClr val="64748B"/>
                </a:solidFill>
                <a:latin typeface="Consolas"/>
                <a:ea typeface="Consolas"/>
              </a:rPr>
              <a:t>秒允许</a:t>
            </a: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 xml:space="preserve"> / 44 </a:t>
            </a:r>
            <a:r>
              <a:rPr lang="zh-CN" sz="1050">
                <a:solidFill>
                  <a:srgbClr val="64748B"/>
                </a:solidFill>
                <a:latin typeface="Consolas"/>
                <a:ea typeface="Consolas"/>
              </a:rPr>
              <a:t>分</a:t>
            </a: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 xml:space="preserve"> 59 </a:t>
            </a:r>
            <a:r>
              <a:rPr lang="zh-CN" sz="1050">
                <a:solidFill>
                  <a:srgbClr val="64748B"/>
                </a:solidFill>
                <a:latin typeface="Consolas"/>
                <a:ea typeface="Consolas"/>
              </a:rPr>
              <a:t>秒拒绝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571500" y="1952625"/>
            <a:ext cx="11049000" cy="266700"/>
          </a:xfrm>
          <a:custGeom>
            <a:pathLst>
              <a:path w="1160" h="28">
                <a:moveTo>
                  <a:pt x="0" y="27"/>
                </a:moveTo>
                <a:lnTo>
                  <a:pt x="1160" y="27"/>
                </a:lnTo>
                <a:lnTo>
                  <a:pt x="1160" y="28"/>
                </a:lnTo>
                <a:lnTo>
                  <a:pt x="0" y="28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260" name=""/>
          <p:cNvSpPr/>
          <p:nvPr/>
        </p:nvSpPr>
        <p:spPr>
          <a:xfrm rot="0" flipH="0" flipV="0">
            <a:off x="571500" y="195262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19125" y="2000250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12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933450" y="1952625"/>
            <a:ext cx="48101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真实仓储：</a:t>
            </a:r>
            <a:r>
              <a:rPr lang="en-US" sz="1125">
                <a:solidFill>
                  <a:srgbClr val="1E293B"/>
                </a:solidFill>
                <a:latin typeface="Microsoft YaHei"/>
                <a:ea typeface="Microsoft YaHei"/>
              </a:rPr>
              <a:t xml:space="preserve">CAS + </a:t>
            </a: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序号</a:t>
            </a:r>
            <a:r>
              <a:rPr lang="en-US" sz="1125">
                <a:solidFill>
                  <a:srgbClr val="1E293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约束映射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5857875" y="1962150"/>
            <a:ext cx="576262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Consolas"/>
                <a:ea typeface="Consolas"/>
              </a:rPr>
              <a:t>唯一索引冲突返回业务码，不是</a:t>
            </a: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 xml:space="preserve"> 500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571500" y="2247900"/>
            <a:ext cx="11049000" cy="266700"/>
          </a:xfrm>
          <a:custGeom>
            <a:pathLst>
              <a:path w="1160" h="28">
                <a:moveTo>
                  <a:pt x="0" y="27"/>
                </a:moveTo>
                <a:lnTo>
                  <a:pt x="1160" y="27"/>
                </a:lnTo>
                <a:lnTo>
                  <a:pt x="1160" y="28"/>
                </a:lnTo>
                <a:lnTo>
                  <a:pt x="0" y="28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265" name=""/>
          <p:cNvSpPr/>
          <p:nvPr/>
        </p:nvSpPr>
        <p:spPr>
          <a:xfrm rot="0" flipH="0" flipV="0">
            <a:off x="571500" y="224790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619125" y="2295525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13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933450" y="2247900"/>
            <a:ext cx="48101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>
                <a:solidFill>
                  <a:srgbClr val="1E293B"/>
                </a:solidFill>
                <a:latin typeface="Microsoft YaHei"/>
                <a:ea typeface="Microsoft YaHei"/>
              </a:rPr>
              <a:t>Redis + Lua</a:t>
            </a: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：抢单锁</a:t>
            </a:r>
            <a:r>
              <a:rPr lang="en-US" sz="1125">
                <a:solidFill>
                  <a:srgbClr val="1E293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频控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5857875" y="2257425"/>
            <a:ext cx="576262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Consolas"/>
                <a:ea typeface="Consolas"/>
              </a:rPr>
              <a:t>清掉脚本缓存后再抢，仍能正常工作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571500" y="2543175"/>
            <a:ext cx="11049000" cy="266700"/>
          </a:xfrm>
          <a:custGeom>
            <a:pathLst>
              <a:path w="1160" h="28">
                <a:moveTo>
                  <a:pt x="0" y="27"/>
                </a:moveTo>
                <a:lnTo>
                  <a:pt x="1160" y="27"/>
                </a:lnTo>
                <a:lnTo>
                  <a:pt x="1160" y="28"/>
                </a:lnTo>
                <a:lnTo>
                  <a:pt x="0" y="28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270" name=""/>
          <p:cNvSpPr/>
          <p:nvPr/>
        </p:nvSpPr>
        <p:spPr>
          <a:xfrm rot="0" flipH="0" flipV="0">
            <a:off x="571500" y="254317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619125" y="2590800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14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933450" y="2543175"/>
            <a:ext cx="48101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抢单接口：三道闸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5857875" y="2552700"/>
            <a:ext cx="576262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 xml:space="preserve">20 </a:t>
            </a:r>
            <a:r>
              <a:rPr lang="zh-CN" sz="1050">
                <a:solidFill>
                  <a:srgbClr val="64748B"/>
                </a:solidFill>
                <a:latin typeface="Consolas"/>
                <a:ea typeface="Consolas"/>
              </a:rPr>
              <a:t>并发</a:t>
            </a: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 xml:space="preserve"> → count(*) == 1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571500" y="2838450"/>
            <a:ext cx="11049000" cy="266700"/>
          </a:xfrm>
          <a:custGeom>
            <a:pathLst>
              <a:path w="1160" h="28">
                <a:moveTo>
                  <a:pt x="0" y="27"/>
                </a:moveTo>
                <a:lnTo>
                  <a:pt x="1160" y="27"/>
                </a:lnTo>
                <a:lnTo>
                  <a:pt x="1160" y="28"/>
                </a:lnTo>
                <a:lnTo>
                  <a:pt x="0" y="28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275" name=""/>
          <p:cNvSpPr/>
          <p:nvPr/>
        </p:nvSpPr>
        <p:spPr>
          <a:xfrm rot="0" flipH="0" flipV="0">
            <a:off x="571500" y="28384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619125" y="2886075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15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933450" y="2838450"/>
            <a:ext cx="48101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发单接口：敏感字段加密</a:t>
            </a:r>
            <a:r>
              <a:rPr lang="en-US" sz="1125">
                <a:solidFill>
                  <a:srgbClr val="1E293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区间校验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5857875" y="2847975"/>
            <a:ext cx="576262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Consolas"/>
                <a:ea typeface="Consolas"/>
              </a:rPr>
              <a:t>库里查不到明文取件码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571500" y="3133725"/>
            <a:ext cx="11049000" cy="266700"/>
          </a:xfrm>
          <a:custGeom>
            <a:pathLst>
              <a:path w="1160" h="28">
                <a:moveTo>
                  <a:pt x="0" y="27"/>
                </a:moveTo>
                <a:lnTo>
                  <a:pt x="1160" y="27"/>
                </a:lnTo>
                <a:lnTo>
                  <a:pt x="1160" y="28"/>
                </a:lnTo>
                <a:lnTo>
                  <a:pt x="0" y="28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280" name=""/>
          <p:cNvSpPr/>
          <p:nvPr/>
        </p:nvSpPr>
        <p:spPr>
          <a:xfrm rot="0" flipH="0" flipV="0">
            <a:off x="571500" y="313372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619125" y="3181350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16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933450" y="3133725"/>
            <a:ext cx="48101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注册登录</a:t>
            </a:r>
            <a:r>
              <a:rPr lang="en-US" sz="1125">
                <a:solidFill>
                  <a:srgbClr val="1E293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大厅</a:t>
            </a:r>
            <a:r>
              <a:rPr lang="en-US" sz="1125">
                <a:solidFill>
                  <a:srgbClr val="1E293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详情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5857875" y="3143250"/>
            <a:ext cx="576262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Consolas"/>
                <a:ea typeface="Consolas"/>
              </a:rPr>
              <a:t>游标分页翻到最后一页不重不漏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571500" y="3429000"/>
            <a:ext cx="11049000" cy="257175"/>
          </a:xfrm>
          <a:prstGeom prst="roundRect">
            <a:avLst>
              <a:gd name="adj" fmla="val 29630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285" name=""/>
          <p:cNvSpPr/>
          <p:nvPr/>
        </p:nvSpPr>
        <p:spPr>
          <a:xfrm rot="0" flipH="0" flipV="0">
            <a:off x="571500" y="3429000"/>
            <a:ext cx="11049000" cy="257175"/>
          </a:xfrm>
          <a:custGeom>
            <a:pathLst>
              <a:path w="1160" h="27">
                <a:moveTo>
                  <a:pt x="1160" y="19"/>
                </a:moveTo>
                <a:cubicBezTo>
                  <a:pt x="1160" y="24"/>
                  <a:pt x="1156" y="27"/>
                  <a:pt x="1152" y="27"/>
                </a:cubicBezTo>
                <a:lnTo>
                  <a:pt x="8" y="27"/>
                </a:lnTo>
                <a:cubicBezTo>
                  <a:pt x="4" y="27"/>
                  <a:pt x="1" y="25"/>
                  <a:pt x="0" y="21"/>
                </a:cubicBezTo>
                <a:cubicBezTo>
                  <a:pt x="1" y="24"/>
                  <a:pt x="4" y="26"/>
                  <a:pt x="7" y="26"/>
                </a:cubicBezTo>
                <a:lnTo>
                  <a:pt x="1153" y="26"/>
                </a:lnTo>
                <a:cubicBezTo>
                  <a:pt x="1157" y="26"/>
                  <a:pt x="1160" y="23"/>
                  <a:pt x="1160" y="19"/>
                </a:cubicBezTo>
                <a:close/>
              </a:path>
            </a:pathLst>
          </a:custGeom>
          <a:solidFill>
            <a:srgbClr val="BFDBFE"/>
          </a:solidFill>
          <a:ln/>
        </p:spPr>
        <p:txBody>
          <a:bodyPr/>
          <a:p/>
        </p:txBody>
      </p:sp>
      <p:sp>
        <p:nvSpPr>
          <p:cNvPr id="286" name=""/>
          <p:cNvSpPr/>
          <p:nvPr/>
        </p:nvSpPr>
        <p:spPr>
          <a:xfrm rot="0" flipH="0" flipV="0">
            <a:off x="571500" y="342900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619125" y="3476625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17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933450" y="3429000"/>
            <a:ext cx="48101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所有结论在真</a:t>
            </a:r>
            <a:r>
              <a:rPr lang="en-US" sz="1125">
                <a:solidFill>
                  <a:srgbClr val="1E293B"/>
                </a:solidFill>
                <a:latin typeface="Microsoft YaHei"/>
                <a:ea typeface="Microsoft YaHei"/>
              </a:rPr>
              <a:t xml:space="preserve"> PG + </a:t>
            </a: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真</a:t>
            </a:r>
            <a:r>
              <a:rPr lang="en-US" sz="1125">
                <a:solidFill>
                  <a:srgbClr val="1E293B"/>
                </a:solidFill>
                <a:latin typeface="Microsoft YaHei"/>
                <a:ea typeface="Microsoft YaHei"/>
              </a:rPr>
              <a:t xml:space="preserve"> Redis </a:t>
            </a: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上重跑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5857875" y="3438525"/>
            <a:ext cx="576262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Consolas"/>
                <a:ea typeface="Consolas"/>
              </a:rPr>
              <a:t>全绿，且是你自己跑过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571500" y="3724275"/>
            <a:ext cx="11049000" cy="266700"/>
          </a:xfrm>
          <a:custGeom>
            <a:pathLst>
              <a:path w="1160" h="28">
                <a:moveTo>
                  <a:pt x="0" y="27"/>
                </a:moveTo>
                <a:lnTo>
                  <a:pt x="1160" y="27"/>
                </a:lnTo>
                <a:lnTo>
                  <a:pt x="1160" y="28"/>
                </a:lnTo>
                <a:lnTo>
                  <a:pt x="0" y="28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291" name=""/>
          <p:cNvSpPr/>
          <p:nvPr/>
        </p:nvSpPr>
        <p:spPr>
          <a:xfrm rot="0" flipH="0" flipV="0">
            <a:off x="571500" y="372427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619125" y="3771900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18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933450" y="3724275"/>
            <a:ext cx="48101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1E293B"/>
                </a:solidFill>
                <a:latin typeface="Microsoft YaHei"/>
                <a:ea typeface="Microsoft YaHei"/>
              </a:rPr>
              <a:t>回写文档，删掉过期内容；打标签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5857875" y="3733800"/>
            <a:ext cx="576262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Consolas"/>
                <a:ea typeface="Consolas"/>
              </a:rPr>
              <a:t>文档里的数字与仓库一致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571500" y="5800725"/>
            <a:ext cx="11049000" cy="485775"/>
          </a:xfrm>
          <a:prstGeom prst="roundRect">
            <a:avLst>
              <a:gd name="adj" fmla="val 15686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685800" y="5915025"/>
            <a:ext cx="108204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 17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步是整份清单里最重要的一步：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不是「跑过」，是「你自己跑过」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——这两个差得很远。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297" name="" descr="&lt;Slide style={{ padding: 60, background: '#FFFFFF' }}&gt;&#10;  &lt;Box style={{ flexDirection: 'column', gap: 12, marginBottom: 20 }}&gt;&#10;    &lt;Text style={{ fontSize: 36, fontWeight: 'bold', color: '#1E293B', lineHeight: 1.2 }}&gt;&#10;      如果重来一次，我会这么分配时间&#10;    &lt;/Text&gt;&#10;    &lt;Box style={{ width: '100%', height: 1, background: '#E5E7EB' }} /&gt;&#10;  &lt;/Box&gt;&#10;  &lt;Box style={{ flexDirection: 'column', gap: 0, flex: 1 }}&gt;&#10;    &lt;Box style={{ flexDirection: 'row', gap: 12, background: '#F8FAFC', borderRadius: 8, padding: 10 }}&gt;&#10;      &lt;Text style={{ flex: 1.4, fontSize: 15, fontWeight: 'bold', color: '#64748B' }}&gt;阶段&lt;/Text&gt;&#10;      &lt;Text style={{ flex: 1, fontSize: 15, fontWeight: 'bold', color: '#64748B' }}&gt;实际用时&lt;/Text&gt;&#10;      &lt;Text style={{ flex: 1, fontSize: 15, fontWeight: 'bold', color: '#2563EB' }}&gt;如果重来&lt;/Text&gt;&#10;      &lt;Text style={{ flex: 1.6, fontSize: 15, fontWeight: 'bold', color: '#64748B' }}&gt;差异原因&lt;/Text&gt;&#10;    &lt;/Box&gt;&#10;    {[&#10;      ['需求 + 架构（文档）', '约 1.5 天', '1 天', '文档不用写到 7 万字'],&#10;      ['骨架 + 数据模型', '约 1 天', '0.5 天', '用 Prompt 3 从第一天卡住列宽'],&#10;      ['状态机 + 守卫', '约 1 天', '0.5 天', '用 Prompt 2 把术语定义写清'],&#10;      ['仓储 + 并发', '约 1.5 天', '1 天', '已知道锁的必要性'],&#10;      ['验证与返工', '约 1 天', '0.5 天', '事故成本可以省掉'],&#10;      ['文档回写', '0.5 天', '0.5 天', '省不掉，只能提早做'],&#10;    ].map((r, i) =&gt; (&#10;      &lt;Box key={i} style={{ flexDirection: 'row', gap: 12, alignItems: 'center', borderBottom: '1px solid #F1F5F9', paddingVertical: 7 }}&gt;&#10;        &lt;Text style={{ flex: 1.4, fontSize: 16, color: '#1E293B', lineHeight: 1.4 }}&gt;{r[0]}&lt;/Text&gt;&#10;        &lt;Text style={{ flex: 1, fontSize: 15, color: '#64748B', lineHeight: 1.4 }}&gt;{r[1]}&lt;/Text&gt;&#10;        &lt;Text style={{ flex: 1, fontSize: 15, fontWeight: 'bold', color: '#2563EB', lineHeight: 1.4 }}&gt;{r[2]}&lt;/Text&gt;&#10;        &lt;Text style={{ flex: 1.6, fontSize: 14, color: '#64748B', lineHeight: 1.4 }}&gt;{r[3]}&lt;/Text&gt;&#10;      &lt;/Box&gt;&#10;    ))}&#10;    &lt;Box style={{ flexDirection: 'row', gap: 12, alignItems: 'center', background: '#EFF6FF', borderRadius: 8, padding: 10, marginTop: 8 }}&gt;&#10;      &lt;Text style={{ flex: 1.4, fontSize: 16, fontWeight: 'bold', color: '#1E293B' }}&gt;合计&lt;/Text&gt;&#10;      &lt;Text style={{ flex: 1, fontSize: 16, fontWeight: 'bold', color: '#DC2626' }}&gt;约 6.5 天&lt;/Text&gt;&#10;      &lt;Text style={{ flex: 1, fontSize: 16, fontWeight: 'bold', color: '#15803D' }}&gt;约 4 天&lt;/Text&gt;&#10;      &lt;Text style={{ flex: 1.6, fontSize: 14, color: '#64748B' }}&gt;省下 2.5 天&lt;/Text&gt;&#10;    &lt;/Box&gt;&#10;  &lt;/Box&gt;&#10;  &lt;Box style={{ background: '#FEF3C7', borderRadius: 8, padding: 14, marginTop: 16 }}&gt;&#10;    &lt;Text style={{ fontSize: 16, color: '#1E293B', lineHeight: 1.5, textAlign: 'center' }}&gt;&#10;      结论：&lt;span style={{ fontWeight: 'bold', color: '#B45309' }}&gt;AI 省下的是打字时间，返工时间取决于你写判据的水平。&lt;/span&gt;&#10;    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如果重来一次，我会这么分配时间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571500" y="1181100"/>
            <a:ext cx="11049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301" name=""/>
          <p:cNvSpPr/>
          <p:nvPr/>
        </p:nvSpPr>
        <p:spPr>
          <a:xfrm rot="0" flipH="0" flipV="0">
            <a:off x="571500" y="1381125"/>
            <a:ext cx="11049000" cy="361950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666750" y="1476375"/>
            <a:ext cx="2943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64748B"/>
                </a:solidFill>
                <a:latin typeface="Microsoft YaHei"/>
                <a:ea typeface="Microsoft YaHei"/>
              </a:rPr>
              <a:t>阶段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3724275" y="1476375"/>
            <a:ext cx="2105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64748B"/>
                </a:solidFill>
                <a:latin typeface="Microsoft YaHei"/>
                <a:ea typeface="Microsoft YaHei"/>
              </a:rPr>
              <a:t>实际用时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5943600" y="1476375"/>
            <a:ext cx="2105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563EB"/>
                </a:solidFill>
                <a:latin typeface="Microsoft YaHei"/>
                <a:ea typeface="Microsoft YaHei"/>
              </a:rPr>
              <a:t>如果重来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8162925" y="1476375"/>
            <a:ext cx="3362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64748B"/>
                </a:solidFill>
                <a:latin typeface="Microsoft YaHei"/>
                <a:ea typeface="Microsoft YaHei"/>
              </a:rPr>
              <a:t>差异原因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571500" y="1743075"/>
            <a:ext cx="11049000" cy="276225"/>
          </a:xfrm>
          <a:custGeom>
            <a:pathLst>
              <a:path w="1160" h="29">
                <a:moveTo>
                  <a:pt x="0" y="28"/>
                </a:moveTo>
                <a:lnTo>
                  <a:pt x="1160" y="28"/>
                </a:lnTo>
                <a:lnTo>
                  <a:pt x="1160" y="29"/>
                </a:lnTo>
                <a:lnTo>
                  <a:pt x="0" y="29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571500" y="1743075"/>
            <a:ext cx="3000375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需求</a:t>
            </a:r>
            <a:r>
              <a:rPr lang="en-US" sz="1200">
                <a:solidFill>
                  <a:srgbClr val="1E293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架构（文档）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3686175" y="1752600"/>
            <a:ext cx="21431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约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1.5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5943600" y="1752600"/>
            <a:ext cx="21336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1125" b="1">
                <a:solidFill>
                  <a:srgbClr val="2563EB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8191500" y="1762125"/>
            <a:ext cx="34290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文档不用写到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万字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571500" y="2009775"/>
            <a:ext cx="11049000" cy="276225"/>
          </a:xfrm>
          <a:custGeom>
            <a:pathLst>
              <a:path w="1160" h="29">
                <a:moveTo>
                  <a:pt x="0" y="28"/>
                </a:moveTo>
                <a:lnTo>
                  <a:pt x="1160" y="28"/>
                </a:lnTo>
                <a:lnTo>
                  <a:pt x="1160" y="29"/>
                </a:lnTo>
                <a:lnTo>
                  <a:pt x="0" y="29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571500" y="2009775"/>
            <a:ext cx="3000375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骨架</a:t>
            </a:r>
            <a:r>
              <a:rPr lang="en-US" sz="1200">
                <a:solidFill>
                  <a:srgbClr val="1E293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数据模型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3686175" y="2019300"/>
            <a:ext cx="21431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约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5943600" y="2019300"/>
            <a:ext cx="21336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0.5 </a:t>
            </a:r>
            <a:r>
              <a:rPr lang="zh-CN" sz="1125" b="1">
                <a:solidFill>
                  <a:srgbClr val="2563EB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8191500" y="2028825"/>
            <a:ext cx="34290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用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Prompt 3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从第一天卡住列宽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571500" y="2276475"/>
            <a:ext cx="11049000" cy="276225"/>
          </a:xfrm>
          <a:custGeom>
            <a:pathLst>
              <a:path w="1160" h="29">
                <a:moveTo>
                  <a:pt x="0" y="28"/>
                </a:moveTo>
                <a:lnTo>
                  <a:pt x="1160" y="28"/>
                </a:lnTo>
                <a:lnTo>
                  <a:pt x="1160" y="29"/>
                </a:lnTo>
                <a:lnTo>
                  <a:pt x="0" y="29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571500" y="2276475"/>
            <a:ext cx="3000375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状态机</a:t>
            </a:r>
            <a:r>
              <a:rPr lang="en-US" sz="1200">
                <a:solidFill>
                  <a:srgbClr val="1E293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守卫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3686175" y="2286000"/>
            <a:ext cx="21431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约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5943600" y="2286000"/>
            <a:ext cx="21336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0.5 </a:t>
            </a:r>
            <a:r>
              <a:rPr lang="zh-CN" sz="1125" b="1">
                <a:solidFill>
                  <a:srgbClr val="2563EB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8191500" y="2295525"/>
            <a:ext cx="34290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用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Prompt 2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把术语定义写清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571500" y="2543175"/>
            <a:ext cx="11049000" cy="276225"/>
          </a:xfrm>
          <a:custGeom>
            <a:pathLst>
              <a:path w="1160" h="29">
                <a:moveTo>
                  <a:pt x="0" y="28"/>
                </a:moveTo>
                <a:lnTo>
                  <a:pt x="1160" y="28"/>
                </a:lnTo>
                <a:lnTo>
                  <a:pt x="1160" y="29"/>
                </a:lnTo>
                <a:lnTo>
                  <a:pt x="0" y="29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571500" y="2543175"/>
            <a:ext cx="3000375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仓储</a:t>
            </a:r>
            <a:r>
              <a:rPr lang="en-US" sz="1200">
                <a:solidFill>
                  <a:srgbClr val="1E293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并发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3686175" y="2552700"/>
            <a:ext cx="21431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约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1.5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5943600" y="2552700"/>
            <a:ext cx="21336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1125" b="1">
                <a:solidFill>
                  <a:srgbClr val="2563EB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8191500" y="2562225"/>
            <a:ext cx="34290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已知道锁的必要性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571500" y="2809875"/>
            <a:ext cx="11049000" cy="276225"/>
          </a:xfrm>
          <a:custGeom>
            <a:pathLst>
              <a:path w="1160" h="29">
                <a:moveTo>
                  <a:pt x="0" y="28"/>
                </a:moveTo>
                <a:lnTo>
                  <a:pt x="1160" y="28"/>
                </a:lnTo>
                <a:lnTo>
                  <a:pt x="1160" y="29"/>
                </a:lnTo>
                <a:lnTo>
                  <a:pt x="0" y="29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571500" y="2809875"/>
            <a:ext cx="3000375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验证与返工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3686175" y="2819400"/>
            <a:ext cx="21431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约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5943600" y="2819400"/>
            <a:ext cx="21336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0.5 </a:t>
            </a:r>
            <a:r>
              <a:rPr lang="zh-CN" sz="1125" b="1">
                <a:solidFill>
                  <a:srgbClr val="2563EB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8191500" y="2828925"/>
            <a:ext cx="34290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事故成本可以省掉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571500" y="3076575"/>
            <a:ext cx="11049000" cy="276225"/>
          </a:xfrm>
          <a:custGeom>
            <a:pathLst>
              <a:path w="1160" h="29">
                <a:moveTo>
                  <a:pt x="0" y="28"/>
                </a:moveTo>
                <a:lnTo>
                  <a:pt x="1160" y="28"/>
                </a:lnTo>
                <a:lnTo>
                  <a:pt x="1160" y="29"/>
                </a:lnTo>
                <a:lnTo>
                  <a:pt x="0" y="29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571500" y="3076575"/>
            <a:ext cx="3000375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文档回写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3686175" y="3086100"/>
            <a:ext cx="21431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0.5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5943600" y="3086100"/>
            <a:ext cx="21336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0.5 </a:t>
            </a:r>
            <a:r>
              <a:rPr lang="zh-CN" sz="1125" b="1">
                <a:solidFill>
                  <a:srgbClr val="2563EB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8191500" y="3095625"/>
            <a:ext cx="34290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省不掉，只能提早做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571500" y="3419475"/>
            <a:ext cx="11049000" cy="3810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666750" y="3514725"/>
            <a:ext cx="2943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合计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3724275" y="3514725"/>
            <a:ext cx="2105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DC2626"/>
                </a:solidFill>
                <a:latin typeface="Microsoft YaHei"/>
                <a:ea typeface="Microsoft YaHei"/>
              </a:rPr>
              <a:t>约</a:t>
            </a:r>
            <a:r>
              <a:rPr lang="en-US" sz="1200" b="1">
                <a:solidFill>
                  <a:srgbClr val="DC2626"/>
                </a:solidFill>
                <a:latin typeface="Microsoft YaHei"/>
                <a:ea typeface="Microsoft YaHei"/>
              </a:rPr>
              <a:t xml:space="preserve"> 6.5 </a:t>
            </a:r>
            <a:r>
              <a:rPr lang="zh-CN" sz="1200" b="1">
                <a:solidFill>
                  <a:srgbClr val="DC2626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5943600" y="3514725"/>
            <a:ext cx="2105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5803D"/>
                </a:solidFill>
                <a:latin typeface="Microsoft YaHei"/>
                <a:ea typeface="Microsoft YaHei"/>
              </a:rPr>
              <a:t>约</a:t>
            </a:r>
            <a:r>
              <a:rPr lang="en-US" sz="1200" b="1">
                <a:solidFill>
                  <a:srgbClr val="15803D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200" b="1">
                <a:solidFill>
                  <a:srgbClr val="15803D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8162925" y="3533775"/>
            <a:ext cx="3362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省下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2.5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571500" y="5743575"/>
            <a:ext cx="11049000" cy="542925"/>
          </a:xfrm>
          <a:prstGeom prst="roundRect">
            <a:avLst>
              <a:gd name="adj" fmla="val 14035"/>
            </a:avLst>
          </a:prstGeom>
          <a:solidFill>
            <a:srgbClr val="FEF3C7"/>
          </a:solidFill>
          <a:ln/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704850" y="5876925"/>
            <a:ext cx="10782300" cy="27622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结论：</a:t>
            </a:r>
            <a:r>
              <a:rPr lang="en-US" sz="1200" b="1">
                <a:solidFill>
                  <a:srgbClr val="B45309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200" b="1">
                <a:solidFill>
                  <a:srgbClr val="B45309"/>
                </a:solidFill>
                <a:latin typeface="Microsoft YaHei"/>
                <a:ea typeface="Microsoft YaHei"/>
              </a:rPr>
              <a:t>省下的是打字时间，返工时间取决于你写判据的水平。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65" name="" descr="&lt;Slide style={{ padding: 60, background: '#0F172A' }}&gt;&#10;  &lt;Box style={{ flexDirection: 'column', gap: 8, marginBottom: 24 }}&gt;&#10;    &lt;Text style={{ fontSize: 15, color: '#64748B', letterSpacing: 2 }}&gt;&#10;      结语&#10;    &lt;/Text&gt;&#10;    &lt;Text style={{ fontSize: 36, fontWeight: 'bold', color: '#FFFFFF', lineHeight: 1.2 }}&gt;&#10;      它擅长什么，不擅长什么&#10;    &lt;/Text&gt;&#10;    &lt;Box style={{ width: '100%', height: 1, background: '#1E293B' }} /&gt;&#10;  &lt;/Box&gt;&#10;  &lt;Box style={{ flexDirection: 'row', gap: 24, flex: 1 }}&gt;&#10;    &lt;Box style={{ flex: 1, background: '#1E293B', borderRadius: 10, padding: 22, gap: 10 }}&gt;&#10;      &lt;Text style={{ fontSize: 20, fontWeight: 'bold', color: '#06B6D4', lineHeight: 1.3 }}&gt;它很擅长&lt;/Text&gt;&#10;      {['把已经想清楚的规则翻译成代码', '生成测试用例的清单', '在 17 条迁移里保持命名编号一致', '一次性重命名、搬移、格式化', '解释一段代码在干什么'].map((s, i) =&gt; (&#10;        &lt;Text key={i} style={{ fontSize: 15, color: '#E2E8F0', lineHeight: 1.45 }}&gt;▸ {s}&lt;/Text&gt;&#10;      ))}&#10;    &lt;/Box&gt;&#10;    &lt;Box style={{ flex: 1, background: '#1E293B', borderRadius: 10, padding: 22, gap: 10 }}&gt;&#10;      &lt;Text style={{ fontSize: 20, fontWeight: 'bold', color: '#F59E0B', lineHeight: 1.3 }}&gt;它不擅长&lt;/Text&gt;&#10;      {['判断规则本身对不对', '判断哪些用例必须跑在真实环境', '发现某条迁移的语义和另一条冲突', '判断这次改动会不会破坏别处', '知道你为什么要这段代码'].map((s, i) =&gt; (&#10;        &lt;Text key={i} style={{ fontSize: 15, color: '#E2E8F0', lineHeight: 1.45 }}&gt;▸ {s}&lt;/Text&gt;&#10;      ))}&#10;    &lt;/Box&gt;&#10;  &lt;/Box&gt;&#10;  &lt;Box style={{ marginTop: 24, alignItems: 'center', gap: 8 }}&gt;&#10;    &lt;Text style={{ fontSize: 22, fontWeight: 'bold', color: '#FFFFFF', lineHeight: 1.4, textAlign: 'center' }}&gt;&#10;      我出判据，它出实现，环境出裁决&#10;    &lt;/Text&gt;&#10;    &lt;Text style={{ fontSize: 16, color: '#94A3B8', lineHeight: 1.4, textAlign: 'center' }}&gt;&#10;      它能把想清楚的事写得又快又好，但它没办法替你想清楚。&#10;    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64748B"/>
                </a:solidFill>
                <a:latin typeface="Microsoft YaHei"/>
                <a:ea typeface="Microsoft YaHei"/>
              </a:rPr>
              <a:t>结语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571500" y="81915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FFFFFF"/>
                </a:solidFill>
                <a:latin typeface="Microsoft YaHei"/>
                <a:ea typeface="Microsoft YaHei"/>
              </a:rPr>
              <a:t>它擅长什么，不擅长什么</a:t>
            </a:r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571500" y="1390650"/>
            <a:ext cx="11049000" cy="952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70" name=""/>
          <p:cNvSpPr/>
          <p:nvPr/>
        </p:nvSpPr>
        <p:spPr>
          <a:xfrm rot="0" flipH="0" flipV="0">
            <a:off x="571500" y="1628775"/>
            <a:ext cx="5410200" cy="3743325"/>
          </a:xfrm>
          <a:prstGeom prst="roundRect">
            <a:avLst>
              <a:gd name="adj" fmla="val 2545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781050" y="1838325"/>
            <a:ext cx="49911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06B6D4"/>
                </a:solidFill>
                <a:latin typeface="Microsoft YaHei"/>
                <a:ea typeface="Microsoft YaHei"/>
              </a:rPr>
              <a:t>它很擅长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781050" y="2238375"/>
            <a:ext cx="49911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E2E8F0"/>
                </a:solidFill>
                <a:latin typeface="Microsoft YaHei"/>
                <a:ea typeface="Microsoft YaHei"/>
              </a:rPr>
              <a:t xml:space="preserve">▸ </a:t>
            </a:r>
            <a:r>
              <a:rPr lang="zh-CN" sz="1125">
                <a:solidFill>
                  <a:srgbClr val="E2E8F0"/>
                </a:solidFill>
                <a:latin typeface="Microsoft YaHei"/>
                <a:ea typeface="Microsoft YaHei"/>
              </a:rPr>
              <a:t>把已经想清楚的规则翻译成代码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781050" y="2590800"/>
            <a:ext cx="49911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E2E8F0"/>
                </a:solidFill>
                <a:latin typeface="Microsoft YaHei"/>
                <a:ea typeface="Microsoft YaHei"/>
              </a:rPr>
              <a:t xml:space="preserve">▸ </a:t>
            </a:r>
            <a:r>
              <a:rPr lang="zh-CN" sz="1125">
                <a:solidFill>
                  <a:srgbClr val="E2E8F0"/>
                </a:solidFill>
                <a:latin typeface="Microsoft YaHei"/>
                <a:ea typeface="Microsoft YaHei"/>
              </a:rPr>
              <a:t>生成测试用例的清单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781050" y="2943225"/>
            <a:ext cx="49911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E2E8F0"/>
                </a:solidFill>
                <a:latin typeface="Microsoft YaHei"/>
                <a:ea typeface="Microsoft YaHei"/>
              </a:rPr>
              <a:t xml:space="preserve">▸ </a:t>
            </a:r>
            <a:r>
              <a:rPr lang="zh-CN" sz="1125">
                <a:solidFill>
                  <a:srgbClr val="E2E8F0"/>
                </a:solidFill>
                <a:latin typeface="Microsoft YaHei"/>
                <a:ea typeface="Microsoft YaHei"/>
              </a:rPr>
              <a:t>在</a:t>
            </a:r>
            <a:r>
              <a:rPr lang="en-US" sz="1125">
                <a:solidFill>
                  <a:srgbClr val="E2E8F0"/>
                </a:solidFill>
                <a:latin typeface="Microsoft YaHei"/>
                <a:ea typeface="Microsoft YaHei"/>
              </a:rPr>
              <a:t xml:space="preserve"> 17 </a:t>
            </a:r>
            <a:r>
              <a:rPr lang="zh-CN" sz="1125">
                <a:solidFill>
                  <a:srgbClr val="E2E8F0"/>
                </a:solidFill>
                <a:latin typeface="Microsoft YaHei"/>
                <a:ea typeface="Microsoft YaHei"/>
              </a:rPr>
              <a:t>条迁移里保持命名编号一致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781050" y="3295650"/>
            <a:ext cx="49911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E2E8F0"/>
                </a:solidFill>
                <a:latin typeface="Microsoft YaHei"/>
                <a:ea typeface="Microsoft YaHei"/>
              </a:rPr>
              <a:t xml:space="preserve">▸ </a:t>
            </a:r>
            <a:r>
              <a:rPr lang="zh-CN" sz="1125">
                <a:solidFill>
                  <a:srgbClr val="E2E8F0"/>
                </a:solidFill>
                <a:latin typeface="Microsoft YaHei"/>
                <a:ea typeface="Microsoft YaHei"/>
              </a:rPr>
              <a:t>一次性重命名、搬移、格式化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781050" y="3648075"/>
            <a:ext cx="49911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E2E8F0"/>
                </a:solidFill>
                <a:latin typeface="Microsoft YaHei"/>
                <a:ea typeface="Microsoft YaHei"/>
              </a:rPr>
              <a:t xml:space="preserve">▸ </a:t>
            </a:r>
            <a:r>
              <a:rPr lang="zh-CN" sz="1125">
                <a:solidFill>
                  <a:srgbClr val="E2E8F0"/>
                </a:solidFill>
                <a:latin typeface="Microsoft YaHei"/>
                <a:ea typeface="Microsoft YaHei"/>
              </a:rPr>
              <a:t>解释一段代码在干什么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6210300" y="1628775"/>
            <a:ext cx="5410200" cy="3743325"/>
          </a:xfrm>
          <a:prstGeom prst="roundRect">
            <a:avLst>
              <a:gd name="adj" fmla="val 2545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6419850" y="1838325"/>
            <a:ext cx="49911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F59E0B"/>
                </a:solidFill>
                <a:latin typeface="Microsoft YaHei"/>
                <a:ea typeface="Microsoft YaHei"/>
              </a:rPr>
              <a:t>它不擅长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6419850" y="2238375"/>
            <a:ext cx="49911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E2E8F0"/>
                </a:solidFill>
                <a:latin typeface="Microsoft YaHei"/>
                <a:ea typeface="Microsoft YaHei"/>
              </a:rPr>
              <a:t xml:space="preserve">▸ </a:t>
            </a:r>
            <a:r>
              <a:rPr lang="zh-CN" sz="1125">
                <a:solidFill>
                  <a:srgbClr val="E2E8F0"/>
                </a:solidFill>
                <a:latin typeface="Microsoft YaHei"/>
                <a:ea typeface="Microsoft YaHei"/>
              </a:rPr>
              <a:t>判断规则本身对不对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6419850" y="2590800"/>
            <a:ext cx="49911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E2E8F0"/>
                </a:solidFill>
                <a:latin typeface="Microsoft YaHei"/>
                <a:ea typeface="Microsoft YaHei"/>
              </a:rPr>
              <a:t xml:space="preserve">▸ </a:t>
            </a:r>
            <a:r>
              <a:rPr lang="zh-CN" sz="1125">
                <a:solidFill>
                  <a:srgbClr val="E2E8F0"/>
                </a:solidFill>
                <a:latin typeface="Microsoft YaHei"/>
                <a:ea typeface="Microsoft YaHei"/>
              </a:rPr>
              <a:t>判断哪些用例必须跑在真实环境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6419850" y="2943225"/>
            <a:ext cx="49911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E2E8F0"/>
                </a:solidFill>
                <a:latin typeface="Microsoft YaHei"/>
                <a:ea typeface="Microsoft YaHei"/>
              </a:rPr>
              <a:t xml:space="preserve">▸ </a:t>
            </a:r>
            <a:r>
              <a:rPr lang="zh-CN" sz="1125">
                <a:solidFill>
                  <a:srgbClr val="E2E8F0"/>
                </a:solidFill>
                <a:latin typeface="Microsoft YaHei"/>
                <a:ea typeface="Microsoft YaHei"/>
              </a:rPr>
              <a:t>发现某条迁移的语义和另一条冲突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6419850" y="3295650"/>
            <a:ext cx="49911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E2E8F0"/>
                </a:solidFill>
                <a:latin typeface="Microsoft YaHei"/>
                <a:ea typeface="Microsoft YaHei"/>
              </a:rPr>
              <a:t xml:space="preserve">▸ </a:t>
            </a:r>
            <a:r>
              <a:rPr lang="zh-CN" sz="1125">
                <a:solidFill>
                  <a:srgbClr val="E2E8F0"/>
                </a:solidFill>
                <a:latin typeface="Microsoft YaHei"/>
                <a:ea typeface="Microsoft YaHei"/>
              </a:rPr>
              <a:t>判断这次改动会不会破坏别处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6419850" y="3648075"/>
            <a:ext cx="49911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E2E8F0"/>
                </a:solidFill>
                <a:latin typeface="Microsoft YaHei"/>
                <a:ea typeface="Microsoft YaHei"/>
              </a:rPr>
              <a:t xml:space="preserve">▸ </a:t>
            </a:r>
            <a:r>
              <a:rPr lang="zh-CN" sz="1125">
                <a:solidFill>
                  <a:srgbClr val="E2E8F0"/>
                </a:solidFill>
                <a:latin typeface="Microsoft YaHei"/>
                <a:ea typeface="Microsoft YaHei"/>
              </a:rPr>
              <a:t>知道你为什么要这段代码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4524375" y="5600700"/>
            <a:ext cx="3143250" cy="352425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我出判据，它出实现，环境出裁决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4114800" y="6029325"/>
            <a:ext cx="39624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它能把想清楚的事写得又快又好，但它没办法替你想清楚。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2026-10-29T01:55:29Z</dcterms:created>
  <dcterms:modified xsi:type="dcterms:W3CDTF">2026-10-29T01:55:29Z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{"AIGC":{"Label":"1","ContentProducer":"00119111010856365494821B355","ProduceID":"01a18391fbbf7d5dab22afaa3327d38b","ReservedCode1":"","ContentPropagator":"00119111010856365494821B355","PropagateID":"01a18391fbbf7d5dab22afaa3327d38b","ReservedCode2":""}}</vt:lpwstr>
  </property>
</Properties>
</file>
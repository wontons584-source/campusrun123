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22" Type="http://schemas.openxmlformats.org/officeDocument/2006/relationships/viewProps" Target="viewProps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571500" y="20193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2362200"/>
            <a:ext cx="11049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8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CampusRun · </a:t>
            </a: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校园跑腿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347662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一个用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从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到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搭建的校园互助跑腿系统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4162425"/>
            <a:ext cx="11049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发单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抢单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履约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确认，一条可追溯的互助链路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71500" y="5924550"/>
            <a:ext cx="11049000" cy="371475"/>
          </a:xfrm>
          <a:custGeom>
            <a:pathLst>
              <a:path w="1160" h="39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571500" y="61245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工程项目认知实践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课程汇报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877550" y="61245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2026-10-29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571500"/>
            <a:ext cx="2857500" cy="57150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52500" y="263842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BF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52500" y="2952750"/>
            <a:ext cx="20955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我的出发点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52500" y="3676650"/>
            <a:ext cx="2095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BEAFE"/>
                </a:solidFill>
                <a:latin typeface="Microsoft YaHei"/>
                <a:ea typeface="Microsoft YaHei"/>
              </a:rPr>
              <a:t>一个每天都在校园里发生的真实麻烦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10000" y="224790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267200" y="2247900"/>
            <a:ext cx="73533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课表连续四节时，快递柜超时开始计费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267200" y="2571750"/>
            <a:ext cx="7353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菜鸟驿站免费保管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小时，超过就开始收费——但上午满课，根本没时间跑一趟。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810000" y="311467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267200" y="3114675"/>
            <a:ext cx="73533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有人没时间取，有人想赚零花钱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267200" y="3438525"/>
            <a:ext cx="7353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两边都真实存在，但互相找不到——信息不对称，让需求和供给都白白浪费。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810000" y="398145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267200" y="3981450"/>
            <a:ext cx="73533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陌生人代取，最缺的是「信任」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267200" y="4305300"/>
            <a:ext cx="7353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东西交给谁？送到了没有？出了问题算谁的？没有留痕，就没人敢托付。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痛点（一）：一个具体的下午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52475" y="2790825"/>
            <a:ext cx="5810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14:00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1524000" y="28670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1571625" y="2981325"/>
            <a:ext cx="19050" cy="4191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828800" y="2790825"/>
            <a:ext cx="5715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293B"/>
                </a:solidFill>
                <a:latin typeface="Microsoft YaHei"/>
                <a:ea typeface="Microsoft YaHei"/>
              </a:rPr>
              <a:t>手机弹出通知：快递已到菜鸟驿站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52475" y="3400425"/>
            <a:ext cx="5810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14:30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1524000" y="34766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1571625" y="3590925"/>
            <a:ext cx="19050" cy="4191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828800" y="3400425"/>
            <a:ext cx="5715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293B"/>
                </a:solidFill>
                <a:latin typeface="Microsoft YaHei"/>
                <a:ea typeface="Microsoft YaHei"/>
              </a:rPr>
              <a:t>打开课表：下午四节连上，走不开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52475" y="4010025"/>
            <a:ext cx="5810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59E0B"/>
                </a:solidFill>
                <a:latin typeface="Microsoft YaHei"/>
                <a:ea typeface="Microsoft YaHei"/>
              </a:rPr>
              <a:t>17:00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1524000" y="4086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1571625" y="4200525"/>
            <a:ext cx="19050" cy="4191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828800" y="4010025"/>
            <a:ext cx="5715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293B"/>
                </a:solidFill>
                <a:latin typeface="Microsoft YaHei"/>
                <a:ea typeface="Microsoft YaHei"/>
              </a:rPr>
              <a:t>想起免费保管只有</a:t>
            </a:r>
            <a:r>
              <a:rPr lang="en-US" sz="1500">
                <a:solidFill>
                  <a:srgbClr val="1E293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500">
                <a:solidFill>
                  <a:srgbClr val="1E293B"/>
                </a:solidFill>
                <a:latin typeface="Microsoft YaHei"/>
                <a:ea typeface="Microsoft YaHei"/>
              </a:rPr>
              <a:t>小时，明早就超时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52475" y="4619625"/>
            <a:ext cx="5810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59E0B"/>
                </a:solidFill>
                <a:latin typeface="Microsoft YaHei"/>
                <a:ea typeface="Microsoft YaHei"/>
              </a:rPr>
              <a:t>18:00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1524000" y="46958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828800" y="4619625"/>
            <a:ext cx="5715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293B"/>
                </a:solidFill>
                <a:latin typeface="Microsoft YaHei"/>
                <a:ea typeface="Microsoft YaHei"/>
              </a:rPr>
              <a:t>下课赶去驿站，排队二十分钟才取到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001000" y="1457325"/>
            <a:ext cx="3619500" cy="4829175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305800" y="2628900"/>
            <a:ext cx="3009900" cy="6096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6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3600" b="1">
                <a:solidFill>
                  <a:srgbClr val="2563EB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305800" y="3390900"/>
            <a:ext cx="30099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E293B"/>
                </a:solidFill>
                <a:latin typeface="Microsoft YaHei"/>
                <a:ea typeface="Microsoft YaHei"/>
              </a:rPr>
              <a:t>为取一个快递，搭进去一小时、一次排队，还有一份「明天就超时」的焦虑。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05800" y="4572000"/>
            <a:ext cx="300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这不是个例——它是南审几千名学生每天都在重复的日常。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43" name="" descr="&lt;Slide style={{ padding: 60, background: '#FFFFFF' }}&gt;&#10;  &lt;Box style={{ flexDirection: 'column', gap: 12, marginBottom: 24 }}&gt;&#10;    &lt;Text style={{ fontSize: 36, fontWeight: 'bold', color: '#1E293B', lineHeight: 1.2 }}&gt;&#10;      痛点（二）：四类痛点，以及现有办法为什么不行&#10;    &lt;/Text&gt;&#10;    &lt;Box style={{ width: '100%', height: 1, background: '#E5E7EB' }} /&gt;&#10;  &lt;/Box&gt;&#10;  &lt;Box style={{ flexDirection: 'row', gap: 24, flex: 1 }}&gt;&#10;    &lt;Box style={{ width: 420, background: '#EFF6FF', border: '1px solid #BFDBFE', borderRadius: 12, padding: 28, justifyContent: 'center', gap: 12 }}&gt;&#10;      &lt;Text style={{ fontSize: 24, fontWeight: 'bold', color: '#2563EB', lineHeight: 1.3 }}&gt;&#10;        时间冲突&#10;      &lt;/Text&gt;&#10;      &lt;Text style={{ fontSize: 18, color: '#1E293B', lineHeight: 1.5 }}&gt;&#10;        课表是刚性的。上午四节连上，快递免费保管却只有 12 小时——时间永远对不上。&#10;      &lt;/Text&gt;&#10;      &lt;Text style={{ fontSize: 16, color: '#64748B', lineHeight: 1.5 }}&gt;&#10;        这是最普遍、也最无力的一类：不是懒，是真的抽不出身。&#10;      &lt;/Text&gt;&#10;    &lt;/Box&gt;&#10;    &lt;Box style={{ flex: 1, flexDirection: 'column', gap: 16 }}&gt;&#10;      &lt;Box style={{ flex: 1, background: '#F8FAFC', border: '1px solid #E5E7EB', borderRadius: 12, padding: 20, justifyContent: 'center', gap: 8 }}&gt;&#10;        &lt;Text style={{ fontSize: 20, fontWeight: 'bold', color: '#1E293B', lineHeight: 1.3 }}&gt;&#10;          排队成本&#10;        &lt;/Text&gt;&#10;        &lt;Text style={{ fontSize: 16, color: '#64748B', lineHeight: 1.45 }}&gt;&#10;          高峰期驿站排二十分钟，取件五分钟——时间全耗在等。&#10;        &lt;/Text&gt;&#10;      &lt;/Box&gt;&#10;      &lt;Box style={{ flex: 1, background: '#F8FAFC', border: '1px solid #E5E7EB', borderRadius: 12, padding: 20, justifyContent: 'center', gap: 8 }}&gt;&#10;        &lt;Text style={{ fontSize: 20, fontWeight: 'bold', color: '#1E293B', lineHeight: 1.3 }}&gt;&#10;          信息不对称&#10;        &lt;/Text&gt;&#10;        &lt;Text style={{ fontSize: 16, color: '#64748B', lineHeight: 1.45 }}&gt;&#10;          有人没时间取、有人想赚零花，但互相找不到对方。&#10;        &lt;/Text&gt;&#10;      &lt;/Box&gt;&#10;      &lt;Box style={{ flex: 1, background: '#F8FAFC', border: '1px solid #E5E7EB', borderRadius: 12, padding: 20, justifyContent: 'center', gap: 8 }}&gt;&#10;        &lt;Text style={{ fontSize: 20, fontWeight: 'bold', color: '#1E293B', lineHeight: 1.3 }}&gt;&#10;          信任缺失&#10;        &lt;/Text&gt;&#10;        &lt;Text style={{ fontSize: 16, color: '#64748B', lineHeight: 1.45 }}&gt;&#10;          东西交给谁？送到了没？出了问题算谁的？没有留痕就不敢托付。&#10;        &lt;/Text&gt;&#10;      &lt;/Box&gt;&#10;    &lt;/Box&gt;&#10;  &lt;/Box&gt;&#10;  &lt;Box style={{ background: '#FEF3C7', borderRadius: 8, padding: 16, marginTop: 20, flexDirection: 'row', alignItems: 'center', gap: 12 }}&gt;&#10;    &lt;Text style={{ fontSize: 18, color: '#1E293B', lineHeight: 1.4, flex: 1 }}&gt;&#10;      现有的办法——微信群喊话、表白墙求助——都依赖人情和自觉，没有约束、没有留痕，只能覆盖熟人小圈子，解决不了「陌生人之间」的互助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痛点（二）：四类痛点，以及现有办法为什么不行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571500" y="1419225"/>
            <a:ext cx="4000500" cy="3790950"/>
          </a:xfrm>
          <a:prstGeom prst="roundRect">
            <a:avLst>
              <a:gd name="adj" fmla="val 30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8200" y="2438400"/>
            <a:ext cx="34671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时间冲突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2914650"/>
            <a:ext cx="3467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课表是刚性的。上午四节连上，快递免费保管却只有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小时——时间永远对不上。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3648075"/>
            <a:ext cx="3467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这是最普遍、也最无力的一类：不是懒，是真的抽不出身。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4800600" y="1419225"/>
            <a:ext cx="68199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991100" y="1676400"/>
            <a:ext cx="64389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排队成本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4991100" y="2057400"/>
            <a:ext cx="64389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高峰期驿站排二十分钟，取件五分钟——时间全耗在等。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4800600" y="2733675"/>
            <a:ext cx="68199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991100" y="2990850"/>
            <a:ext cx="64389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信息不对称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991100" y="3371850"/>
            <a:ext cx="64389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有人没时间取、有人想赚零花，但互相找不到对方。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4800600" y="4048125"/>
            <a:ext cx="68199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991100" y="4305300"/>
            <a:ext cx="64389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信任缺失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991100" y="4686300"/>
            <a:ext cx="64389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东西交给谁？送到了没？出了问题算谁的？没有留痕就不敢托付。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571500" y="5400675"/>
            <a:ext cx="11049000" cy="885825"/>
          </a:xfrm>
          <a:prstGeom prst="roundRect">
            <a:avLst>
              <a:gd name="adj" fmla="val 8602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23900" y="5553075"/>
            <a:ext cx="107442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现有的办法——微信群喊话、表白墙求助——都依赖人情和自觉，没有约束、没有留痕，只能覆盖熟人小圈子，解决不了「陌生人之间」的互助。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62" name="" descr="&lt;Slide style={{ padding: 60, background: '#FFFFFF' }}&gt;&#10;  &lt;Box style={{ flexDirection: 'column', gap: 12, marginBottom: 28 }}&gt;&#10;    &lt;Text style={{ fontSize: 36, fontWeight: 'bold', color: '#1E293B', lineHeight: 1.2 }}&gt;&#10;      解决方案：一条可追溯的互助链路&#10;    &lt;/Text&gt;&#10;    &lt;Text style={{ fontSize: 18, color: '#64748B', lineHeight: 1.4 }}&gt;&#10;      把「谁发的、谁接的、走到哪一步了」变成一串不可篡改的事件记录。&#10;    &lt;/Text&gt;&#10;    &lt;Box style={{ width: '100%', height: 1, background: '#E5E7EB' }} /&gt;&#10;  &lt;/Box&gt;&#10;  &lt;Box style={{ flexDirection: 'row', alignItems: 'stretch', gap: 0, flex: 1 }}&gt;&#10;    {[&#10;      { n: '发单', t: '发布需求', d: '选起终点、设酬劳、留取件码', c: '#2563EB' },&#10;      { n: '抢单', t: '大厅接单', d: '接单人看到并抢下这单', c: '#2563EB' },&#10;      { n: '履约', t: '逐步上报', d: '取件 → 配送中 → 送达', c: '#F59E0B' },&#10;      { n: '确认', t: '确认收货', d: '发单人验收，订单完成', c: '#06B6D4' },&#10;    ].map((s, i) =&gt; (&#10;      &lt;Box key={i} style={{ flex: 1, flexDirection: 'row', alignItems: 'stretch' }}&gt;&#10;        &lt;Box style={{ flex: 1, background: '#F8FAFC', border: '1px solid #E5E7EB', borderRadius: 12, padding: 24, justifyContent: 'center', gap: 12 }}&gt;&#10;          &lt;Box style={{ width: 40, height: 40, background: s.c, borderRadius: 20, alignItems: 'center', justifyContent: 'center' }}&gt;&#10;            &lt;Text style={{ fontSize: 20, fontWeight: 'bold', color: '#FFFFFF' }}&gt;{i + 1}&lt;/Text&gt;&#10;          &lt;/Box&gt;&#10;          &lt;Text style={{ fontSize: 26, fontWeight: 'bold', color: '#1E293B', lineHeight: 1.3 }}&gt;{s.n}&lt;/Text&gt;&#10;          &lt;Text style={{ fontSize: 17, color: '#64748B', lineHeight: 1.45 }}&gt;{s.d}&lt;/Text&gt;&#10;        &lt;/Box&gt;&#10;        {i &lt; 3 ? (&#10;          &lt;Box style={{ width: 24, alignItems: 'center', justifyContent: 'center' }}&gt;&#10;            &lt;Text style={{ fontSize: 24, color: '#94A3B8', fontWeight: 'bold' }}&gt;→&lt;/Text&gt;&#10;          &lt;/Box&gt;&#10;        ) : null}&#10;      &lt;/Box&gt;&#10;    ))}&#10;  &lt;/Box&gt;&#10;  &lt;Box style={{ background: '#EFF6FF', borderRadius: 8, padding: 16, marginTop: 20, flexDirection: 'row', alignItems: 'center', gap: 12 }}&gt;&#10;    &lt;Text style={{ fontSize: 18, color: '#1E293B', lineHeight: 1.4, flex: 1 }}&gt;&#10;      关键不是「有个平台」，而是每一单的每一步都留痕——&lt;span style={{ fontWeight: 'bold', color: '#2563EB' }}&gt;订单的当前状态，是把这串事件重放出来的结果，而不是一个可以被随手改掉的状态字段。&lt;/span&gt;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解决方案：一条可追溯的互助链路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71500" y="1181100"/>
            <a:ext cx="110490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把「谁发的、谁接的、走到哪一步了」变成一串不可篡改的事件记录。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571500" y="1590675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571500" y="1866900"/>
            <a:ext cx="2533650" cy="3343275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800100" y="2752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33450" y="28289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00100" y="3248025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发单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00100" y="3752850"/>
            <a:ext cx="20764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选起终点、设酬劳、留取件码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105150" y="34004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3333750" y="1866900"/>
            <a:ext cx="2533650" cy="3343275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3562350" y="2895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695700" y="2971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562350" y="339090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抢单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562350" y="3895725"/>
            <a:ext cx="20764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接单人看到并抢下这单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867400" y="34004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0" y="1866900"/>
            <a:ext cx="2533650" cy="3343275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324600" y="2895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457950" y="2971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324600" y="339090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履约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324600" y="3895725"/>
            <a:ext cx="20764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取件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配送中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送达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629650" y="34004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858250" y="1866900"/>
            <a:ext cx="2762250" cy="3343275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9086850" y="2895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220200" y="2971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086850" y="3390900"/>
            <a:ext cx="23050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086850" y="3895725"/>
            <a:ext cx="23050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发单人验收，订单完成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71500" y="5400675"/>
            <a:ext cx="11049000" cy="885825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23900" y="5553075"/>
            <a:ext cx="107442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关键不是「有个平台」，而是每一单的每一步都留痕——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订单的当前状态，是把这串事件重放出来的结果，而不是一个可以被随手改掉的状态字段。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92" name="" descr="&lt;Slide style={{ padding: 60, background: '#FFFFFF' }}&gt;&#10;  &lt;Box style={{ flexDirection: 'column', gap: 12, marginBottom: 24 }}&gt;&#10;    &lt;Text style={{ fontSize: 36, fontWeight: 'bold', color: '#1E293B', lineHeight: 1.2 }}&gt;&#10;      三条设计原则&#10;    &lt;/Text&gt;&#10;    &lt;Box style={{ width: '100%', height: 1, background: '#E5E7EB' }} /&gt;&#10;  &lt;/Box&gt;&#10;  &lt;Box style={{ flexDirection: 'row', gap: 24, flex: 1 }}&gt;&#10;    &lt;Box style={{ flex: 1.2, background: '#2563EB', borderRadius: 12, padding: 32, justifyContent: 'center', gap: 16 }}&gt;&#10;      &lt;Text style={{ fontSize: 14, color: '#BFDBFE', letterSpacing: 2 }}&gt;原则一 · 最核心&lt;/Text&gt;&#10;      &lt;Text style={{ fontSize: 28, fontWeight: 'bold', color: '#FFFFFF', lineHeight: 1.35 }}&gt;&#10;        状态不是一个字段，而是一串事件&#10;      &lt;/Text&gt;&#10;      &lt;Text style={{ fontSize: 17, color: '#DBEAFE', lineHeight: 1.55 }}&gt;&#10;        每单的「发单、接单、取件、送达、确认」都存在一张不可变的进度表里。&#10;        订单当前状态不是存出来的，是把事件重放算出来的——所以它天然可追溯、无法被悄悄篡改。&#10;      &lt;/Text&gt;&#10;    &lt;/Box&gt;&#10;    &lt;Box style={{ flex: 1, flexDirection: 'column', gap: 24 }}&gt;&#10;      &lt;Box style={{ flex: 1, background: '#F8FAFC', border: '1px solid #E5E7EB', borderRadius: 12, padding: 24, justifyContent: 'center', gap: 10 }}&gt;&#10;        &lt;Text style={{ fontSize: 22, fontWeight: 'bold', color: '#1E293B', lineHeight: 1.3 }}&gt;&#10;          原则二 · 单一写出口&#10;        &lt;/Text&gt;&#10;        &lt;Text style={{ fontSize: 16, color: '#64748B', lineHeight: 1.5 }}&gt;&#10;          所有状态变更只走状态机，非法跳级在入口就被守卫拦下，而不是靠业务代码自觉。&#10;        &lt;/Text&gt;&#10;      &lt;/Box&gt;&#10;      &lt;Box style={{ flex: 1, background: '#F8FAFC', border: '1px solid #E5E7EB', borderRadius: 12, padding: 24, justifyContent: 'center', gap: 10 }}&gt;&#10;        &lt;Text style={{ fontSize: 22, fontWeight: 'bold', color: '#1E293B', lineHeight: 1.3 }}&gt;&#10;          原则三 · 在真库上验证&#10;        &lt;/Text&gt;&#10;        &lt;Text style={{ fontSize: 16, color: '#64748B', lineHeight: 1.5 }}&gt;&#10;          集成测试跑真实的 PostgreSQL 和 Redis，不用内存替身——很多 bug 只会在真库上暴露。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三条设计原则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571500" y="1419225"/>
            <a:ext cx="5905500" cy="4867275"/>
          </a:xfrm>
          <a:prstGeom prst="roundRect">
            <a:avLst>
              <a:gd name="adj" fmla="val 2348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76300" y="295275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FDBFE"/>
                </a:solidFill>
                <a:latin typeface="Microsoft YaHei"/>
                <a:ea typeface="Microsoft YaHei"/>
              </a:rPr>
              <a:t>原则一</a:t>
            </a:r>
            <a:r>
              <a:rPr lang="en-US" sz="1050" spc="150">
                <a:solidFill>
                  <a:srgbClr val="BFDBF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150">
                <a:solidFill>
                  <a:srgbClr val="BFDBFE"/>
                </a:solidFill>
                <a:latin typeface="Microsoft YaHei"/>
                <a:ea typeface="Microsoft YaHei"/>
              </a:rPr>
              <a:t>最核心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76300" y="3267075"/>
            <a:ext cx="5295900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状态不是一个字段，而是一串事件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76300" y="3857625"/>
            <a:ext cx="52959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每单的「发单、接单、取件、送达、确认」都存在一张不可变的进度表里。</a:t>
            </a:r>
            <a:r>
              <a:rPr lang="en-US" sz="1275">
                <a:solidFill>
                  <a:srgbClr val="DBEAF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订单当前状态不是存出来的，是把事件重放算出来的——所以它天然可追溯、无法被悄悄篡改。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705600" y="1419225"/>
            <a:ext cx="49149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934200" y="2095500"/>
            <a:ext cx="4457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原则二</a:t>
            </a: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单一写出口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934200" y="2524125"/>
            <a:ext cx="4457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所有状态变更只走状态机，非法跳级在入口就被守卫拦下，而不是靠业务代码自觉。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705600" y="3971925"/>
            <a:ext cx="4914900" cy="2314575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934200" y="4638675"/>
            <a:ext cx="4457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原则三</a:t>
            </a: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在真库上验证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934200" y="5067300"/>
            <a:ext cx="4457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集成测试跑真实的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PostgreSQL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Redis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，不用内存替身——很多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只会在真库上暴露。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style={{ padding: 60, background: '#FFFFFF' }}&gt;&#10;  &lt;Box style={{ flexDirection: 'column', gap: 12, marginBottom: 24 }}&gt;&#10;    &lt;Text style={{ fontSize: 36, fontWeight: 'bold', color: '#1E293B', lineHeight: 1.2 }}&gt;&#10;      技术架构：模块化单体的四层&#10;    &lt;/Text&gt;&#10;    &lt;Box style={{ width: '100%', height: 1, background: '#E5E7EB' }} /&gt;&#10;  &lt;/Box&gt;&#10;  &lt;Box style={{ flexDirection: 'column', gap: 16, flex: 1 }}&gt;&#10;    {[&#10;      { n: '前端', t: 'React 18 + Vite + Tailwind', d: '登录 / 大厅 / 发单 / 订单详情，共 4 页', c: '#2563EB', w: '88%' },&#10;      { n: 'API 层', t: 'FastAPI + JWT', d: 'auth / orders / pois 三类路由，统一响应信封', c: '#2563EB', w: '94%' },&#10;      { n: '领域层', t: 'OrderService + 状态机内核', d: '17 条迁移 + 19 个动作，apply() 单一写出口', c: '#F59E0B', w: '100%' },&#10;      { n: '数据层', t: 'PostgreSQL + Redis', d: '14 张表 / 27 索引；Redis Lua 抢单锁 + 频控 + GEO', c: '#06B6D4', w: '88%' },&#10;    ].map((l, i) =&gt; (&#10;      &lt;Box key={i} style={{ flex: 1, flexDirection: 'row', alignItems: 'center', gap: 20 }}&gt;&#10;        &lt;Box style={{ width: 90, alignItems: 'flex-end' }}&gt;&#10;          &lt;Text style={{ fontSize: 18, fontWeight: 'bold', color: '#64748B', lineHeight: 1.3 }}&gt;{l.n}&lt;/Text&gt;&#10;        &lt;/Box&gt;&#10;        &lt;Box style={{ flex: 1, flexDirection: 'row', alignItems: 'center' }}&gt;&#10;          &lt;Box style={{ width: l.w, background: '#F8FAFC', border: `1px solid ${l.c}`, borderLeftWidth: 4, borderRadius: 8, padding: 14, flexDirection: 'row', alignItems: 'center', gap: 16 }}&gt;&#10;            &lt;Text style={{ fontSize: 17, fontWeight: 'bold', color: '#1E293B', lineHeight: 1.3, width: 240 }}&gt;{l.t}&lt;/Text&gt;&#10;            &lt;Text style={{ fontSize: 15, color: '#64748B', lineHeight: 1.4, flex: 1 }}&gt;{l.d}&lt;/Text&gt;&#10;          &lt;/Box&gt;&#10;        &lt;/Box&gt;&#10;      &lt;/Box&gt;&#10;    ))}&#10;  &lt;/Box&gt;&#10;  &lt;Box style={{ marginTop: 20, flexDirection: 'row', alignItems: 'center', gap: 12 }}&gt;&#10;    &lt;Text style={{ fontSize: 16, color: '#64748B', lineHeight: 1.4, flex: 1 }}&gt;&#10;      单一代码库、按模块分层，避免微服务的复杂度——对一个校园场景，这比拆服务更务实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技术架构：模块化单体的四层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85850" y="1781175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1657350" y="1657350"/>
            <a:ext cx="88011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1657350" y="1657350"/>
            <a:ext cx="8801100" cy="523875"/>
          </a:xfrm>
          <a:custGeom>
            <a:pathLst>
              <a:path w="924" h="5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1"/>
                </a:lnTo>
                <a:cubicBezTo>
                  <a:pt x="4" y="53"/>
                  <a:pt x="5" y="55"/>
                  <a:pt x="7" y="55"/>
                </a:cubicBezTo>
                <a:cubicBezTo>
                  <a:pt x="3" y="55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790700" y="17907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React 18 + Vite + Tailwind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229100" y="1800225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登录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大厅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发单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订单详情，共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04875" y="2924175"/>
            <a:ext cx="52387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1657350" y="2800350"/>
            <a:ext cx="9401175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1657350" y="2800350"/>
            <a:ext cx="9401175" cy="523875"/>
          </a:xfrm>
          <a:custGeom>
            <a:pathLst>
              <a:path w="987" h="5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1"/>
                </a:lnTo>
                <a:cubicBezTo>
                  <a:pt x="4" y="53"/>
                  <a:pt x="5" y="55"/>
                  <a:pt x="7" y="55"/>
                </a:cubicBezTo>
                <a:cubicBezTo>
                  <a:pt x="3" y="55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790700" y="29337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FastAPI + JWT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229100" y="2943225"/>
            <a:ext cx="66579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auth / orders / pois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三类路由，统一响应信封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14400" y="4067175"/>
            <a:ext cx="5143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领域层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657350" y="3943350"/>
            <a:ext cx="100012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1657350" y="3943350"/>
            <a:ext cx="10001250" cy="523875"/>
          </a:xfrm>
          <a:custGeom>
            <a:pathLst>
              <a:path w="1050" h="5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1"/>
                </a:lnTo>
                <a:cubicBezTo>
                  <a:pt x="4" y="53"/>
                  <a:pt x="5" y="55"/>
                  <a:pt x="7" y="55"/>
                </a:cubicBezTo>
                <a:cubicBezTo>
                  <a:pt x="3" y="55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790700" y="40767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OrderService +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状态机内核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229100" y="4086225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条迁移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+ 19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个动作，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apply()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单一写出口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14400" y="5210175"/>
            <a:ext cx="5143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1657350" y="5086350"/>
            <a:ext cx="88011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1657350" y="5086350"/>
            <a:ext cx="8801100" cy="523875"/>
          </a:xfrm>
          <a:custGeom>
            <a:pathLst>
              <a:path w="924" h="5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1"/>
                </a:lnTo>
                <a:cubicBezTo>
                  <a:pt x="4" y="53"/>
                  <a:pt x="5" y="55"/>
                  <a:pt x="7" y="55"/>
                </a:cubicBezTo>
                <a:cubicBezTo>
                  <a:pt x="3" y="55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790700" y="52197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PostgreSQL + Redis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229100" y="5229225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14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张表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27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索引；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Redis Lua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抢单锁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频控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GEO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6029325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单一代码库、按模块分层，避免微服务的复杂度——对一个校园场景，这比拆服务更务实。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31" name="" descr="&lt;Slide style={{ padding: 60, background: '#FFFFFF' }}&gt;&#10;  &lt;Box style={{ flexDirection: 'column', gap: 12, marginBottom: 24 }}&gt;&#10;    &lt;Text style={{ fontSize: 36, fontWeight: 'bold', color: '#1E293B', lineHeight: 1.2 }}&gt;&#10;      数据模型：不是几张表，是一套约束&#10;    &lt;/Text&gt;&#10;    &lt;Box style={{ width: '100%', height: 1, background: '#E5E7EB' }} /&gt;&#10;  &lt;/Box&gt;&#10;  &lt;Box style={{ flexDirection: 'row', gap: 32, flex: 1, alignItems: 'center' }}&gt;&#10;    &lt;Box style={{ width: 360, flexDirection: 'column', gap: 8 }}&gt;&#10;      &lt;Box style={{ flexDirection: 'row', alignItems: 'flex-end', gap: 8 }}&gt;&#10;        &lt;Text style={{ fontSize: 110, fontWeight: 'bold', color: '#2563EB', lineHeight: 1 }}&gt;14&lt;/Text&gt;&#10;        &lt;Text style={{ fontSize: 24, color: '#64748B', paddingBottom: 16 }}&gt;张表&lt;/Text&gt;&#10;      &lt;/Box&gt;&#10;      &lt;Text style={{ fontSize: 17, color: '#64748B', lineHeight: 1.5 }}&gt;&#10;        订单、进度事件、用户、POI、评价、纠纷、资金流水……每个实体都有清晰边界。&#10;      &lt;/Text&gt;&#10;    &lt;/Box&gt;&#10;    &lt;Box style={{ flex: 1, flexDirection: 'column', gap: 20 }}&gt;&#10;      {[&#10;        { v: '27', u: '条索引', d: '含 5 条部分索引，抢单大厅这类高频查询都有覆盖' },&#10;        { v: '17', u: '条状态迁移', d: '从发单到完成，每条迁移都对应一条业务规则' },&#10;        { v: '19', u: '个动作', d: '状态机的完整动作集，含催单、投诉、仲裁' },&#10;      ].map((s, i) =&gt; (&#10;        &lt;Box key={i} style={{ flexDirection: 'row', alignItems: 'center', gap: 20 }}&gt;&#10;          &lt;Box style={{ width: 90, flexDirection: 'row', alignItems: 'baseline', gap: 4 }}&gt;&#10;            &lt;Text style={{ fontSize: 40, fontWeight: 'bold', color: '#F59E0B', lineHeight: 1 }}&gt;{s.v}&lt;/Text&gt;&#10;            &lt;Text style={{ fontSize: 16, color: '#64748B' }}&gt;{s.u}&lt;/Text&gt;&#10;          &lt;/Box&gt;&#10;          &lt;Text style={{ fontSize: 16, color: '#64748B', lineHeight: 1.45, flex: 1 }}&gt;{s.d}&lt;/Text&gt;&#10;        &lt;/Box&gt;&#10;      ))}&#10;    &lt;/Box&gt;&#10;  &lt;/Box&gt;&#10;  &lt;Box style={{ background: '#EFF6FF', borderRadius: 8, padding: 16, marginTop: 20 }}&gt;&#10;    &lt;Text style={{ fontSize: 18, color: '#1E293B', lineHeight: 1.5 }}&gt;&#10;      真正花心思的不是「建多少表」，而是&lt;span style={{ fontWeight: 'bold', color: '#2563EB' }}&gt;用约束把业务规则钉进数据库&lt;/span&gt;——唯一约束、部分索引、外键，让错误的写入在数据库层面就被拒绝，而不是靠上层代码「记得检查」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数据模型：不是几张表，是一套约束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71500" y="2333625"/>
            <a:ext cx="12954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2563EB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943100" y="3162300"/>
            <a:ext cx="457200" cy="428625"/>
          </a:xfrm>
          <a:prstGeom prst="rect"/>
        </p:spPr>
        <p:txBody>
          <a:bodyPr wrap="none" lIns="0" tIns="0" rIns="0" bIns="11430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71500" y="3667125"/>
            <a:ext cx="3429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订单、进度事件、用户、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POI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、评价、纠纷、资金流水……每个实体都有清晰边界。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305300" y="241935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762500" y="2419350"/>
            <a:ext cx="4000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条索引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353050" y="2514600"/>
            <a:ext cx="6267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含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条部分索引，抢单大厅这类高频查询都有覆盖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305300" y="3067050"/>
            <a:ext cx="3143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657725" y="3067050"/>
            <a:ext cx="5048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条状态迁移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353050" y="3162300"/>
            <a:ext cx="6267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从发单到完成，每条迁移都对应一条业务规则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305300" y="371475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762500" y="3714750"/>
            <a:ext cx="4000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个动作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353050" y="3810000"/>
            <a:ext cx="6267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状态机的完整动作集，含催单、投诉、仲裁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571500" y="5362575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23900" y="5514975"/>
            <a:ext cx="10744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真正花心思的不是「建多少表」，而是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用约束把业务规则钉进数据库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——唯一约束、部分索引、外键，让错误的写入在数据库层面就被拒绝，而不是靠上层代码「记得检查」。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49" name="" descr="&lt;Slide style={{ padding: 60, background: '#FFFFFF' }}&gt;&#10;  &lt;Box style={{ flexDirection: 'column', gap: 12, marginBottom: 24 }}&gt;&#10;    &lt;Text style={{ fontSize: 36, fontWeight: 'bold', color: '#1E293B', lineHeight: 1.2 }}&gt;&#10;      功能列表：完成到什么程度&#10;    &lt;/Text&gt;&#10;    &lt;Box style={{ width: '100%', height: 1, background: '#E5E7EB' }} /&gt;&#10;  &lt;/Box&gt;&#10;  &lt;Box style={{ flexDirection: 'row', gap: 24, flex: 1 }}&gt;&#10;    &lt;Box style={{ flex: 1.2, flexDirection: 'column', gap: 12 }}&gt;&#10;      &lt;Box style={{ background: '#ECFDF5', borderRadius: 8, padding: 12, flexDirection: 'row', alignItems: 'center', gap: 8 }}&gt;&#10;        &lt;Text style={{ fontSize: 18, fontWeight: 'bold', color: '#15803D' }}&gt;已完成 · 跑在真库上&lt;/Text&gt;&#10;      &lt;/Box&gt;&#10;      {['注册登录：手机号 + 密码，JWT 签发', '发单：类型 / 起终点 / 酬劳 / 取件码', '大厅：待接单列表，实时倒计时', '抢单：Redis 锁预过滤 + 状态机 CAS 定胜负', '履约：取件 → 配送中 → 送达，逐步上报', '确认收货：发单人验收，订单完成', 'POI 字典：8 个南审真实地点', '前端：登录 / 大厅 / 发单 / 详情 4 页'].map((s, i) =&gt; (&#10;        &lt;Box key={i} style={{ flexDirection: 'row', alignItems: 'flex-start', gap: 10 }}&gt;&#10;          &lt;Text style={{ fontSize: 16, color: '#15803D', fontWeight: 'bold', lineHeight: 1.5 }}&gt;✓&lt;/Text&gt;&#10;          &lt;Text style={{ fontSize: 17, color: '#1E293B', lineHeight: 1.45, flex: 1 }}&gt;{s}&lt;/Text&gt;&#10;        &lt;/Box&gt;&#10;      ))}&#10;    &lt;/Box&gt;&#10;    &lt;Box style={{ flex: 1, flexDirection: 'column', gap: 12 }}&gt;&#10;      &lt;Box style={{ background: '#F1F5F9', borderRadius: 8, padding: 12, flexDirection: 'row', alignItems: 'center', gap: 8 }}&gt;&#10;        &lt;Text style={{ fontSize: 18, fontWeight: 'bold', color: '#64748B' }}&gt;本次没做 · 后续规划&lt;/Text&gt;&#10;      &lt;/Box&gt;&#10;      {['学号认证：邮箱验证码，真实身份', '推送：新单实时通知', '评价：完成后的双向评分', '纠纷仲裁：超时、失联的处置', '后台管理：运营看板'].map((s, i) =&gt; (&#10;        &lt;Box key={i} style={{ flexDirection: 'row', alignItems: 'flex-start', gap: 10 }}&gt;&#10;          &lt;Text style={{ fontSize: 16, color: '#94A3B8', lineHeight: 1.5 }}&gt;○&lt;/Text&gt;&#10;          &lt;Text style={{ fontSize: 16, color: '#64748B', lineHeight: 1.45, flex: 1 }}&gt;{s}&lt;/Text&gt;&#10;        &lt;/Box&gt;&#10;      ))}&#10;    &lt;/Box&gt;&#10;  &lt;/Box&gt;&#10;  &lt;Box style={{ background: '#FEF3C7', borderRadius: 8, padding: 14, marginTop: 20 }}&gt;&#10;    &lt;Text style={{ fontSize: 16, color: '#1E293B', lineHeight: 1.45 }}&gt;&#10;      没做的不藏：学号认证和推送不补上，这个系统就不能真正上线——这是 P0，不是可选项。这一页在答辩时我会主动说，而不是等老师问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功能列表：完成到什么程度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571500" y="1419225"/>
            <a:ext cx="5905500" cy="438150"/>
          </a:xfrm>
          <a:prstGeom prst="roundRect">
            <a:avLst>
              <a:gd name="adj" fmla="val 17391"/>
            </a:avLst>
          </a:prstGeom>
          <a:solidFill>
            <a:srgbClr val="ECFDF5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85800" y="1533525"/>
            <a:ext cx="1552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5803D"/>
                </a:solidFill>
                <a:latin typeface="Microsoft YaHei"/>
                <a:ea typeface="Microsoft YaHei"/>
              </a:rPr>
              <a:t>已完成</a:t>
            </a:r>
            <a:r>
              <a:rPr lang="en-US" sz="1350" b="1">
                <a:solidFill>
                  <a:srgbClr val="15803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15803D"/>
                </a:solidFill>
                <a:latin typeface="Microsoft YaHei"/>
                <a:ea typeface="Microsoft YaHei"/>
              </a:rPr>
              <a:t>跑在真库上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71500" y="197167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19150" y="197167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注册登录：手机号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密码，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JWT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签发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1500" y="237172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19150" y="237172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发单：类型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起终点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酬劳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取件码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1500" y="277177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19150" y="277177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大厅：待接单列表，实时倒计时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71500" y="317182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19150" y="317182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抢单：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锁预过滤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状态机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CAS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定胜负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71500" y="357187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19150" y="357187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履约：取件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配送中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送达，逐步上报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71500" y="397192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19150" y="397192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确认收货：发单人验收，订单完成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437197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POI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字典：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个南审真实地点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4772025"/>
            <a:ext cx="152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19150" y="4772025"/>
            <a:ext cx="56578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前端：登录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大厅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发单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详情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705600" y="1419225"/>
            <a:ext cx="4914900" cy="438150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819900" y="1533525"/>
            <a:ext cx="1552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本次没做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后续规划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705600" y="1971675"/>
            <a:ext cx="95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896100" y="1971675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学号认证：邮箱验证码，真实身份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705600" y="2362200"/>
            <a:ext cx="95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896100" y="2362200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推送：新单实时通知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705600" y="2752725"/>
            <a:ext cx="95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896100" y="2752725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评价：完成后的双向评分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705600" y="3143250"/>
            <a:ext cx="95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896100" y="3143250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纠纷仲裁：超时、失联的处置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705600" y="3533775"/>
            <a:ext cx="95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896100" y="3533775"/>
            <a:ext cx="47244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后台管理：运营看板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571500" y="5753100"/>
            <a:ext cx="11049000" cy="53340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04850" y="5886450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没做的不藏：学号认证和推送不补上，这个系统就不能真正上线——这是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P0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，不是可选项。这一页在答辩时我会主动说，而不是等老师问。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 padding: 60, background: '#FFFFFF' }}&gt;&#10;  &lt;Box style={{ flexDirection: 'column', gap: 12, marginBottom: 24 }}&gt;&#10;    &lt;Text style={{ fontSize: 36, fontWeight: 'bold', color: '#1E293B', lineHeight: 1.2 }}&gt;&#10;      核心难点一：45 分钟，两个互斥的出口&#10;    &lt;/Text&gt;&#10;    &lt;Text style={{ fontSize: 18, color: '#64748B', lineHeight: 1.4 }}&gt;&#10;      接单人抢单后没了动静，发单人该怎么办？答案是：看这 45 分钟里他有没有付出过劳动。&#10;    &lt;/Text&gt;&#10;    &lt;Box style={{ width: '100%', height: 1, background: '#E5E7EB' }} /&gt;&#10;  &lt;/Box&gt;&#10;  &lt;Box style={{ flexDirection: 'row', gap: 24, flex: 1 }}&gt;&#10;    &lt;Box style={{ flex: 1, background: '#F8FAFC', border: '1px solid #E5E7EB', borderRadius: 12, padding: 28, justifyContent: 'center', gap: 14 }}&gt;&#10;      &lt;Text style={{ fontSize: 15, color: '#94A3B8', letterSpacing: 1 }}&gt;出口一 · T17&lt;/Text&gt;&#10;      &lt;Text style={{ fontSize: 28, fontWeight: 'bold', color: '#2563EB', lineHeight: 1.3 }}&gt;&#10;        无责取消&#10;      &lt;/Text&gt;&#10;      &lt;Box style={{ background: '#EFF6FF', borderRadius: 6, padding: 10 }}&gt;&#10;        &lt;Text style={{ fontSize: 16, color: '#1E293B', lineHeight: 1.5 }}&gt;&#10;          触发条件：抢单后 &lt;span style={{ fontWeight: 'bold' }}&gt;45 分钟&lt;/span&gt;，接单人&lt;span style={{ fontWeight: 'bold' }}&gt;零进度&lt;/span&gt;&#10;        &lt;/Text&gt;&#10;      &lt;/Box&gt;&#10;      &lt;Text style={{ fontSize: 16, color: '#64748B', lineHeight: 1.5 }}&gt;&#10;        结果：订单回到待接单，发单人重新找人，不产生任何信用影响。&#10;      &lt;/Text&gt;&#10;      &lt;Text style={{ fontSize: 15, color: '#94A3B8', lineHeight: 1.45 }}&gt;&#10;        为什么合理：接单人还没付出任何劳动，此时取消对双方都无成本。&#10;      &lt;/Text&gt;&#10;    &lt;/Box&gt;&#10;    &lt;Box style={{ flex: 1, background: '#F8FAFC', border: '1px solid #E5E7EB', borderRadius: 12, padding: 28, justifyContent: 'center', gap: 14 }}&gt;&#10;      &lt;Text style={{ fontSize: 15, color: '#94A3B8', letterSpacing: 1 }}&gt;出口二 · T16&lt;/Text&gt;&#10;      &lt;Text style={{ fontSize: 28, fontWeight: 'bold', color: '#F59E0B', lineHeight: 1.3 }}&gt;&#10;        发起投诉&#10;      &lt;/Text&gt;&#10;      &lt;Box style={{ background: '#FEF3C7', borderRadius: 6, padding: 10 }}&gt;&#10;        &lt;Text style={{ fontSize: 16, color: '#1E293B', lineHeight: 1.5 }}&gt;&#10;          触发条件：接单人&lt;span style={{ fontWeight: 'bold' }}&gt;有过进度&lt;/span&gt;（已取件），之后失联&#10;        &lt;/Text&gt;&#10;      &lt;/Box&gt;&#10;      &lt;Text style={{ fontSize: 16, color: '#64748B', lineHeight: 1.5 }}&gt;&#10;        结果：订单冻结，进入纠纷仲裁流程。&#10;      &lt;/Text&gt;&#10;      &lt;Text style={{ fontSize: 15, color: '#94A3B8', lineHeight: 1.45 }}&gt;&#10;        为什么不同：东西可能已经在接单人手上，不能简单取消——只能走仲裁。&#10;      &lt;/Text&gt;&#10;    &lt;/Box&gt;&#10;  &lt;/Box&gt;&#10;  &lt;Box style={{ background: '#2563EB', borderRadius: 8, padding: 16, marginTop: 20 }}&gt;&#10;    &lt;Text style={{ fontSize: 18, color: '#FFFFFF', lineHeight: 1.5 }}&gt;&#10;      关键：这两个出口&lt;span style={{ fontWeight: 'bold' }}&gt;互斥&lt;/span&gt;——「没付出劳动」和「东西已在手上」不可能同时成立。所以界面上，发单人永远不会同时看到「无责取消」和「发起投诉」两个按钮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核心难点一：</a:t>
            </a: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45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分钟，两个互斥的出口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1181100"/>
            <a:ext cx="110490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接单人抢单后没了动静，发单人该怎么办？答案是：看这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 xml:space="preserve"> 45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分钟里他有没有付出过劳动。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71500" y="1590675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571500" y="1828800"/>
            <a:ext cx="5410200" cy="3343275"/>
          </a:xfrm>
          <a:prstGeom prst="roundRect">
            <a:avLst>
              <a:gd name="adj" fmla="val 341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8200" y="24384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94A3B8"/>
                </a:solidFill>
                <a:latin typeface="Microsoft YaHei"/>
                <a:ea typeface="Microsoft YaHei"/>
              </a:rPr>
              <a:t>出口一</a:t>
            </a:r>
            <a:r>
              <a:rPr lang="en-US" sz="1125" spc="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T17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487680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2563EB"/>
                </a:solidFill>
                <a:latin typeface="Microsoft YaHei"/>
                <a:ea typeface="Microsoft YaHei"/>
              </a:rPr>
              <a:t>无责取消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38200" y="3295650"/>
            <a:ext cx="4876800" cy="466725"/>
          </a:xfrm>
          <a:prstGeom prst="roundRect">
            <a:avLst>
              <a:gd name="adj" fmla="val 1224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33450" y="3390900"/>
            <a:ext cx="4686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触发条件：抢单后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45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分钟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，接单人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零进度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8200" y="38957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结果：订单回到待接单，发单人重新找人，不产生任何信用影响。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8200" y="43053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为什么合理：接单人还没付出任何劳动，此时取消对双方都无成本。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210300" y="1828800"/>
            <a:ext cx="5410200" cy="3343275"/>
          </a:xfrm>
          <a:prstGeom prst="roundRect">
            <a:avLst>
              <a:gd name="adj" fmla="val 341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477000" y="24384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94A3B8"/>
                </a:solidFill>
                <a:latin typeface="Microsoft YaHei"/>
                <a:ea typeface="Microsoft YaHei"/>
              </a:rPr>
              <a:t>出口二</a:t>
            </a:r>
            <a:r>
              <a:rPr lang="en-US" sz="1125" spc="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T16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477000" y="2743200"/>
            <a:ext cx="487680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59E0B"/>
                </a:solidFill>
                <a:latin typeface="Microsoft YaHei"/>
                <a:ea typeface="Microsoft YaHei"/>
              </a:rPr>
              <a:t>发起投诉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477000" y="3295650"/>
            <a:ext cx="4876800" cy="466725"/>
          </a:xfrm>
          <a:prstGeom prst="roundRect">
            <a:avLst>
              <a:gd name="adj" fmla="val 1224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572250" y="3390900"/>
            <a:ext cx="4686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触发条件：接单人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有过进度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（已取件），之后失联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477000" y="38957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结果：订单冻结，进入纠纷仲裁流程。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477000" y="43053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为什么不同：东西可能已经在接单人手上，不能简单取消——只能走仲裁。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71500" y="5362575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23900" y="5514975"/>
            <a:ext cx="10744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关键：这两个出口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互斥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——「没付出劳动」和「东西已在手上」不可能同时成立。所以界面上，发单人永远不会同时看到「无责取消」和「发起投诉」两个按钮。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style={{ padding: 60, background: '#0F172A' }}&gt;&#10;  &lt;Box style={{ flexDirection: 'column', gap: 8, marginBottom: 28 }}&gt;&#10;    &lt;Text style={{ fontSize: 15, color: '#64748B', letterSpacing: 2 }}&gt;&#10;      核心难点二 · 并发抢单&#10;    &lt;/Text&gt;&#10;    &lt;Text style={{ fontSize: 36, fontWeight: 'bold', color: '#FFFFFF', lineHeight: 1.2 }}&gt;&#10;      20 个人同时抢，只有 1 个人能成功&#10;    &lt;/Text&gt;&#10;    &lt;Box style={{ width: '100%', height: 1, background: '#1E293B' }} /&gt;&#10;  &lt;/Box&gt;&#10;  &lt;Box style={{ flexDirection: 'row', gap: 48, flex: 1, alignItems: 'center' }}&gt;&#10;    &lt;Box style={{ width: 380, flexDirection: 'column', gap: 8 }}&gt;&#10;      &lt;Box style={{ flexDirection: 'row', alignItems: 'baseline', gap: 12 }}&gt;&#10;        &lt;Text style={{ fontSize: 120, fontWeight: 'bold', color: '#F59E0B', lineHeight: 1 }}&gt;20&lt;/Text&gt;&#10;        &lt;Text style={{ fontSize: 32, color: '#64748B' }}&gt;个线程&lt;/Text&gt;&#10;      &lt;/Box&gt;&#10;      &lt;Text style={{ fontSize: 28, color: '#64748B', lineHeight: 1.3 }}&gt;抢同一个订单&lt;/Text&gt;&#10;      &lt;Box style={{ flexDirection: 'row', alignItems: 'baseline', gap: 12, marginTop: 8 }}&gt;&#10;        &lt;Text style={{ fontSize: 120, fontWeight: 'bold', color: '#06B6D4', lineHeight: 1 }}&gt;1&lt;/Text&gt;&#10;        &lt;Text style={{ fontSize: 32, color: '#64748B' }}&gt;个赢家&lt;/Text&gt;&#10;      &lt;/Box&gt;&#10;    &lt;/Box&gt;&#10;    &lt;Box style={{ flex: 1, flexDirection: 'column', gap: 18 }}&gt;&#10;      {[&#10;        { n: '闸一', t: 'Redis 抢单锁', d: '预过滤，把绝大多数失败挡在数据库之外', c: '#334155' },&#10;        { n: '闸二', t: '状态机 CAS', d: 'UPDATE 带 WHERE status=PENDING，谁先改谁赢', c: '#F59E0B' },&#10;        { n: '闸三', t: '数据库行锁', d: 'SELECT FOR UPDATE，串行化同一行的写入', c: '#06B6D4' },&#10;      ].map((g, i) =&gt; (&#10;        &lt;Box key={i} style={{ flexDirection: 'row', alignItems: 'center', gap: 16 }}&gt;&#10;          &lt;Box style={{ width: 52, height: 52, background: g.c, borderRadius: 8, alignItems: 'center', justifyContent: 'center' }}&gt;&#10;            &lt;Text style={{ fontSize: 16, fontWeight: 'bold', color: '#FFFFFF' }}&gt;{g.n}&lt;/Text&gt;&#10;          &lt;/Box&gt;&#10;          &lt;Box style={{ flex: 1 }}&gt;&#10;            &lt;Text style={{ fontSize: 20, fontWeight: 'bold', color: '#FFFFFF', lineHeight: 1.3 }}&gt;{g.t}&lt;/Text&gt;&#10;            &lt;Text style={{ fontSize: 15, color: '#94A3B8', lineHeight: 1.4 }}&gt;{g.d}&lt;/Text&gt;&#10;          &lt;/Box&gt;&#10;        &lt;/Box&gt;&#10;      ))}&#10;    &lt;/Box&gt;&#10;  &lt;/Box&gt;&#10;  &lt;Box style={{ background: '#1E293B', borderRadius: 8, padding: 16, marginTop: 24 }}&gt;&#10;    &lt;Text style={{ fontSize: 18, color: '#E2E8F0', lineHeight: 1.5 }}&gt;&#10;      最有说服力的一次验证：我把 Redis 锁&lt;span style={{ fontWeight: 'bold', color: '#F59E0B' }}&gt;换成「永远返回成功」&lt;/span&gt;——等于 20 个人都以为自己拿到了锁——结果仍然是只有 1 个赢家。因为正确性来自数据库的 CAS，Redis 锁只是性能优化，&lt;span style={{ fontWeight: 'bold', color: '#FFFFFF' }}&gt;挂了也不会出现两个人抢到同一单&lt;/span&gt;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4748B"/>
                </a:solidFill>
                <a:latin typeface="Microsoft YaHei"/>
                <a:ea typeface="Microsoft YaHei"/>
              </a:rPr>
              <a:t>核心难点二</a:t>
            </a:r>
            <a:r>
              <a:rPr lang="en-US" sz="1125" spc="1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150">
                <a:solidFill>
                  <a:srgbClr val="64748B"/>
                </a:solidFill>
                <a:latin typeface="Microsoft YaHei"/>
                <a:ea typeface="Microsoft YaHei"/>
              </a:rPr>
              <a:t>并发抢单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个人同时抢，只有</a:t>
            </a: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个人能成功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71500" y="1390650"/>
            <a:ext cx="110490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1704975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59E0B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105025" y="1704975"/>
            <a:ext cx="9144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>
                <a:solidFill>
                  <a:srgbClr val="64748B"/>
                </a:solidFill>
                <a:latin typeface="Microsoft YaHei"/>
                <a:ea typeface="Microsoft YaHei"/>
              </a:rPr>
              <a:t>个线程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71500" y="3152775"/>
            <a:ext cx="361950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>
                <a:solidFill>
                  <a:srgbClr val="64748B"/>
                </a:solidFill>
                <a:latin typeface="Microsoft YaHei"/>
                <a:ea typeface="Microsoft YaHei"/>
              </a:rPr>
              <a:t>抢同一个订单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3724275"/>
            <a:ext cx="71437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06B6D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400175" y="3724275"/>
            <a:ext cx="9144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>
                <a:solidFill>
                  <a:srgbClr val="64748B"/>
                </a:solidFill>
                <a:latin typeface="Microsoft YaHei"/>
                <a:ea typeface="Microsoft YaHei"/>
              </a:rPr>
              <a:t>个赢家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648200" y="24288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743450" y="25812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闸一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295900" y="2400300"/>
            <a:ext cx="63246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抢单锁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295900" y="2705100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预过滤，把绝大多数失败挡在数据库之外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648200" y="31527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743450" y="3305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闸二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295900" y="3124200"/>
            <a:ext cx="63246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状态机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CAS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295900" y="3429000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UPDATE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带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WHERE status=PENDING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，谁先改谁赢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648200" y="38766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743450" y="40290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闸三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295900" y="3848100"/>
            <a:ext cx="63246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数据库行锁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295900" y="4152900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SELECT FOR UPDATE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，串行化同一行的写入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71500" y="5362575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23900" y="5514975"/>
            <a:ext cx="10744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最有说服力的一次验证：我把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Redis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锁</a:t>
            </a: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换成「永远返回成功」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——等于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个人都以为自己拿到了锁——结果仍然是只有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个赢家。因为正确性来自数据库的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CAS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锁只是性能优化，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挂了也不会出现两个人抢到同一单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 style={{ padding: 60, background: '#FFFFFF' }}&gt;&#10;  &lt;Box style={{ flexDirection: 'column', gap: 12, marginBottom: 22 }}&gt;&#10;    &lt;Text style={{ fontSize: 36, fontWeight: 'bold', color: '#1E293B', lineHeight: 1.2 }}&gt;&#10;      核心难点三：测试全绿，真库上炸了三个&#10;    &lt;/Text&gt;&#10;    &lt;Box style={{ width: '100%', height: 1, background: '#E5E7EB' }} /&gt;&#10;  &lt;/Box&gt;&#10;  &lt;Box style={{ flexDirection: 'column', gap: 12, flex: 1 }}&gt;&#10;    &lt;Box style={{ flexDirection: 'row', gap: 12 }}&gt;&#10;      &lt;Text style={{ width: 30, fontSize: 15, fontWeight: 'bold', color: '#94A3B8' }}&gt;#&lt;/Text&gt;&#10;      &lt;Text style={{ flex: 1.2, fontSize: 15, fontWeight: 'bold', color: '#94A3B8' }}&gt;案例&lt;/Text&gt;&#10;      &lt;Text style={{ flex: 1.6, fontSize: 15, fontWeight: 'bold', color: '#94A3B8' }}&gt;症状&lt;/Text&gt;&#10;      &lt;Text style={{ flex: 1.8, fontSize: 15, fontWeight: 'bold', color: '#94A3B8' }}&gt;为什么 707 个测试没抓到&lt;/Text&gt;&#10;    &lt;/Box&gt;&#10;    &lt;Box style={{ height: 1, background: '#E5E7EB' }} /&gt;&#10;    {[&#10;      { n: '1', name: '列宽太窄', s: '真库插入直接报错', w: '内存替身不校验列宽' },&#10;      { n: '2', name: '在途上限失效', s: '手上有 3 单还能抢第 4 单', w: '测试手填上下文，没走过真实 SQL' },&#10;      { n: '3', name: '发单不落库', s: '接口返回 201，数据消失', w: '测试绕过 HTTP 层，测不到事务边界', hot: true },&#10;    ].map((r, i) =&gt; (&#10;      &lt;Box key={i} style={{ flexDirection: 'row', gap: 12, alignItems: 'center', background: r.hot ? '#FEF2F2' : '#F8FAFC', border: `1px solid ${r.hot ? '#FECACA' : '#E5E7EB'}`, borderRadius: 8, padding: 12 }}&gt;&#10;        &lt;Text style={{ width: 30, fontSize: 18, fontWeight: 'bold', color: r.hot ? '#DC2626' : '#64748B' }}&gt;{r.n}&lt;/Text&gt;&#10;        &lt;Text style={{ flex: 1.2, fontSize: 18, fontWeight: 'bold', color: '#1E293B', lineHeight: 1.3 }}&gt;{r.name}&lt;/Text&gt;&#10;        &lt;Text style={{ flex: 1.6, fontSize: 16, color: '#1E293B', lineHeight: 1.4 }}&gt;{r.s}&lt;/Text&gt;&#10;        &lt;Text style={{ flex: 1.8, fontSize: 16, color: '#64748B', lineHeight: 1.4 }}&gt;{r.w}&lt;/Text&gt;&#10;      &lt;/Box&gt;&#10;    ))}&#10;  &lt;/Box&gt;&#10;  &lt;Box style={{ marginTop: 22, alignItems: 'center', gap: 8 }}&gt;&#10;    &lt;Text style={{ fontSize: 26, fontWeight: 'bold', color: '#2563EB', lineHeight: 1.4, textAlign: 'center' }}&gt;&#10;      三个 bug 都不在函数内部，而在函数与函数之间&#10;    &lt;/Text&gt;&#10;    &lt;Text style={{ fontSize: 18, color: '#64748B', lineHeight: 1.4, textAlign: 'center' }}&gt;&#10;      单元测试擅长验证「这个函数算得对不对」，天生测不到「这条链路接没接上」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核心难点三：测试全绿，真库上炸了三个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14001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94A3B8"/>
                </a:solidFill>
                <a:latin typeface="Microsoft YaHei"/>
                <a:ea typeface="Microsoft YaHei"/>
              </a:rPr>
              <a:t>#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71550" y="1400175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案例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800475" y="1400175"/>
            <a:ext cx="3629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症状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543800" y="1400175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为什么</a:t>
            </a:r>
            <a:r>
              <a:rPr lang="en-US" sz="1125" b="1">
                <a:solidFill>
                  <a:srgbClr val="94A3B8"/>
                </a:solidFill>
                <a:latin typeface="Microsoft YaHei"/>
                <a:ea typeface="Microsoft YaHei"/>
              </a:rPr>
              <a:t xml:space="preserve"> 707 </a:t>
            </a:r>
            <a:r>
              <a:rPr lang="zh-CN" sz="1125" b="1">
                <a:solidFill>
                  <a:srgbClr val="94A3B8"/>
                </a:solidFill>
                <a:latin typeface="Microsoft YaHei"/>
                <a:ea typeface="Microsoft YaHei"/>
              </a:rPr>
              <a:t>个测试没抓到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71500" y="1685925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571500" y="1809750"/>
            <a:ext cx="110490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5800" y="196215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085850" y="1924050"/>
            <a:ext cx="265747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列宽太窄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857625" y="1933575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真库插入直接报错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515225" y="1933575"/>
            <a:ext cx="39909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内存替身不校验列宽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571500" y="2428875"/>
            <a:ext cx="110490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85800" y="25812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85850" y="2543175"/>
            <a:ext cx="265747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在途上限失效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57625" y="255270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手上有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单还能抢第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515225" y="2552700"/>
            <a:ext cx="39909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测试手填上下文，没走过真实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SQL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71500" y="3048000"/>
            <a:ext cx="11049000" cy="504825"/>
          </a:xfrm>
          <a:prstGeom prst="roundRect">
            <a:avLst>
              <a:gd name="adj" fmla="val 1509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5800" y="320040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C2626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85850" y="3162300"/>
            <a:ext cx="265747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发单不落库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857625" y="3171825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接口返回</a:t>
            </a:r>
            <a:r>
              <a:rPr lang="en-US" sz="1200">
                <a:solidFill>
                  <a:srgbClr val="1E293B"/>
                </a:solidFill>
                <a:latin typeface="Microsoft YaHei"/>
                <a:ea typeface="Microsoft YaHei"/>
              </a:rPr>
              <a:t xml:space="preserve"> 201</a:t>
            </a: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，数据消失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515225" y="3171825"/>
            <a:ext cx="39909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测试绕过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层，测不到事务边界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429000" y="5495925"/>
            <a:ext cx="53435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三个</a:t>
            </a:r>
            <a:r>
              <a:rPr lang="en-US" sz="19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都不在函数内部，而在函数与函数之间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009900" y="5991225"/>
            <a:ext cx="6172200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单元测试擅长验证「这个函数算得对不对」，天生测不到「这条链路接没接上」。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style={{ padding: 60, background: '#FFFFFF' }}&gt;&#10;  &lt;Box style={{ flexDirection: 'column', gap: 12, marginBottom: 20 }}&gt;&#10;    &lt;Text style={{ fontSize: 36, fontWeight: 'bold', color: '#1E293B', lineHeight: 1.2 }}&gt;&#10;      质量验证：数字背后是四层防线&#10;    &lt;/Text&gt;&#10;    &lt;Box style={{ width: '100%', height: 1, background: '#E5E7EB' }} /&gt;&#10;  &lt;/Box&gt;&#10;  &lt;Box style={{ flexDirection: 'row', gap: 16, marginBottom: 22 }}&gt;&#10;    {[&#10;      { v: '707', u: 'passed', d: '615 单元 + 92 集成' },&#10;      { v: '14', u: '张表', d: '27 索引 · 5 部分索引' },&#10;      { v: '17', u: '条迁移', d: '19 个动作 · 状态机' },&#10;      { v: '35', u: '次提交', d: '每个功能可独立回退' },&#10;    ].map((s, i) =&gt; (&#10;      &lt;Box key={i} style={{ flex: 1, background: '#F8FAFC', border: '1px solid #E5E7EB', borderRadius: 10, padding: 16, alignItems: 'center', gap: 4 }}&gt;&#10;        &lt;Text style={{ fontSize: 40, fontWeight: 'bold', color: '#2563EB', lineHeight: 1 }}&gt;{s.v}&lt;/Text&gt;&#10;        &lt;Text style={{ fontSize: 15, color: '#64748B' }}&gt;{s.u}&lt;/Text&gt;&#10;        &lt;Text style={{ fontSize: 13, color: '#94A3B8' }}&gt;{s.d}&lt;/Text&gt;&#10;      &lt;/Box&gt;&#10;    ))}&#10;  &lt;/Box&gt;&#10;  &lt;Box style={{ flexDirection: 'column', gap: 10, flex: 1 }}&gt;&#10;    {[&#10;      { n: '第一层', t: '函数层 · 单元测试', d: '验证「这个函数算得对不对」——但抓不到上一页的三个 bug', c: '#2563EB' },&#10;      { n: '第二层', t: '事务边界层 · 集成测试', d: '走真实 HTTP 请求，请求结束后另开连接查库——抓到了「发单不落库」', c: '#06B6D4' },&#10;      { n: '第三层', t: '真库层 · PG + Redis', d: '不用内存替身——抓到了「列宽太窄」「在途上限失效」', c: '#F59E0B' },&#10;      { n: '第四层', t: '期望层 · 测试本身对不对', d: '红的不一定是代码错，也可能是断言写错——判断依据是文档和用户，不是「谁写的」', c: '#DC2626' },&#10;    ].map((l, i) =&gt; (&#10;      &lt;Box key={i} style={{ flexDirection: 'row', alignItems: 'center', gap: 16 }}&gt;&#10;        &lt;Box style={{ width: 70, height: 34, background: l.c, borderRadius: 6, alignItems: 'center', justifyContent: 'center' }}&gt;&#10;          &lt;Text style={{ fontSize: 14, fontWeight: 'bold', color: '#FFFFFF' }}&gt;{l.n}&lt;/Text&gt;&#10;        &lt;/Box&gt;&#10;        &lt;Text style={{ fontSize: 16, fontWeight: 'bold', color: '#1E293B', width: 240, lineHeight: 1.3 }}&gt;{l.t}&lt;/Text&gt;&#10;        &lt;Text style={{ fontSize: 15, color: '#64748B', flex: 1, lineHeight: 1.45 }}&gt;{l.d}&lt;/Text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质量验证：数字背后是四层防线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571500" y="1381125"/>
            <a:ext cx="2647950" cy="1162050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543050" y="1533525"/>
            <a:ext cx="714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707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657350" y="20288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passed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343025" y="2238375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615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+ 92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3371850" y="1381125"/>
            <a:ext cx="2647950" cy="1162050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457700" y="1533525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552950" y="20288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124325" y="2238375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27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索引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部分索引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172200" y="1381125"/>
            <a:ext cx="2647950" cy="1162050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258050" y="1533525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286625" y="20288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条迁移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981825" y="2238375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19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个动作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状态机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972550" y="1381125"/>
            <a:ext cx="2647950" cy="1162050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058400" y="1533525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35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086975" y="20288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次提交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744075" y="22383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每个功能可独立回退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71500" y="2752725"/>
            <a:ext cx="6667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04850" y="28384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第一层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390650" y="280035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函数层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单元测试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29050" y="2790825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验证「这个函数算得对不对」——但抓不到上一页的三个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bug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71500" y="3171825"/>
            <a:ext cx="666750" cy="323850"/>
          </a:xfrm>
          <a:prstGeom prst="roundRect">
            <a:avLst>
              <a:gd name="adj" fmla="val 17647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04850" y="32575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第二层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390650" y="321945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事务边界层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集成测试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29050" y="3209925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走真实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请求，请求结束后另开连接查库——抓到了「发单不落库」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571500" y="3590925"/>
            <a:ext cx="6667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04850" y="36766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第三层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390650" y="363855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真库层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PG + Redis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829050" y="3629025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不用内存替身——抓到了「列宽太窄」「在途上限失效」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4010025"/>
            <a:ext cx="666750" cy="32385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04850" y="4095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第四层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390650" y="4057650"/>
            <a:ext cx="22860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期望层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测试本身对不对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829050" y="4048125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红的不一定是代码错，也可能是断言写错——判断依据是文档和用户，不是「谁写的」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padding: 60, background: '#FFFFFF' }}&gt;&#10;  &lt;Box style={{ flexDirection: 'column', gap: 12, marginBottom: 22 }}&gt;&#10;    &lt;Text style={{ fontSize: 36, fontWeight: 'bold', color: '#1E293B', lineHeight: 1.2 }}&gt;&#10;      运行效果&#10;    &lt;/Text&gt;&#10;    &lt;Box style={{ width: '100%', height: 1, background: '#E5E7EB' }} /&gt;&#10;  &lt;/Box&gt;&#10;  &lt;Box style={{ flexDirection: 'column', gap: 14, flex: 1 }}&gt;&#10;    &lt;Box style={{ flexDirection: 'row', gap: 14, flex: 1 }}&gt;&#10;      {['登录页', '抢单大厅', '发单页'].map((t, i) =&gt; (&#10;        &lt;Box key={i} style={{ flex: 1, border: '2px dashed #CBD5E1', borderRadius: 10, alignItems: 'center', justifyContent: 'center', gap: 8, background: '#F8FAFC' }}&gt;&#10;          &lt;Text style={{ fontSize: 18, fontWeight: 'bold', color: '#94A3B8' }}&gt;{t}&lt;/Text&gt;&#10;          &lt;Text style={{ fontSize: 14, color: '#CBD5E1' }}&gt;【截图待补：录屏后替换】&lt;/Text&gt;&#10;        &lt;/Box&gt;&#10;      ))}&#10;    &lt;/Box&gt;&#10;    &lt;Box style={{ flexDirection: 'row', gap: 14, flex: 1 }}&gt;&#10;      {['订单详情 · 发单人视角', '订单详情 · 接单人视角'].map((t, i) =&gt; (&#10;        &lt;Box key={i} style={{ flex: 1, border: '2px dashed #CBD5E1', borderRadius: 10, alignItems: 'center', justifyContent: 'center', gap: 8, background: '#F8FAFC' }}&gt;&#10;          &lt;Text style={{ fontSize: 18, fontWeight: 'bold', color: '#94A3B8' }}&gt;{t}&lt;/Text&gt;&#10;          &lt;Text style={{ fontSize: 14, color: '#CBD5E1' }}&gt;【截图待补：录屏后替换】&lt;/Text&gt;&#10;        &lt;/Box&gt;&#10;      ))}&#10;    &lt;/Box&gt;&#10;  &lt;/Box&gt;&#10;  &lt;Box style={{ background: '#EFF6FF', borderRadius: 8, padding: 14, marginTop: 20 }}&gt;&#10;    &lt;Text style={{ fontSize: 16, color: '#1E293B', lineHeight: 1.45 }}&gt;&#10;      这五张截图的重点是「两个视角」：同一个订单，发单人看到「确认收货」，接单人看到「已取件」——动作权限在接口层就按角色分好了，不是前端藏起来的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运行效果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571500" y="1400175"/>
            <a:ext cx="3590925" cy="1885950"/>
          </a:xfrm>
          <a:prstGeom prst="roundRect">
            <a:avLst>
              <a:gd name="adj" fmla="val 5051"/>
            </a:avLst>
          </a:prstGeom>
          <a:solidFill>
            <a:srgbClr val="F8FAFC"/>
          </a:solidFill>
          <a:ln w="254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2114550" y="21240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登录页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571625" y="24098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【截图待补：录屏后替换】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295775" y="1400175"/>
            <a:ext cx="3600450" cy="1885950"/>
          </a:xfrm>
          <a:prstGeom prst="roundRect">
            <a:avLst>
              <a:gd name="adj" fmla="val 5051"/>
            </a:avLst>
          </a:prstGeom>
          <a:solidFill>
            <a:srgbClr val="F8FAFC"/>
          </a:solidFill>
          <a:ln w="254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753100" y="21240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抢单大厅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295900" y="24098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【截图待补：录屏后替换】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029575" y="1400175"/>
            <a:ext cx="3590925" cy="1885950"/>
          </a:xfrm>
          <a:prstGeom prst="roundRect">
            <a:avLst>
              <a:gd name="adj" fmla="val 5051"/>
            </a:avLst>
          </a:prstGeom>
          <a:solidFill>
            <a:srgbClr val="F8FAFC"/>
          </a:solidFill>
          <a:ln w="254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572625" y="21240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发单页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029700" y="24098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【截图待补：录屏后替换】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71500" y="3419475"/>
            <a:ext cx="5457825" cy="1876425"/>
          </a:xfrm>
          <a:prstGeom prst="roundRect">
            <a:avLst>
              <a:gd name="adj" fmla="val 5076"/>
            </a:avLst>
          </a:prstGeom>
          <a:solidFill>
            <a:srgbClr val="F8FAFC"/>
          </a:solidFill>
          <a:ln w="254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2438400" y="4133850"/>
            <a:ext cx="1724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订单详情</a:t>
            </a: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发单人视角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505075" y="44196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【截图待补：录屏后替换】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162675" y="3419475"/>
            <a:ext cx="5457825" cy="1876425"/>
          </a:xfrm>
          <a:prstGeom prst="roundRect">
            <a:avLst>
              <a:gd name="adj" fmla="val 5076"/>
            </a:avLst>
          </a:prstGeom>
          <a:solidFill>
            <a:srgbClr val="F8FAFC"/>
          </a:solidFill>
          <a:ln w="254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029575" y="4133850"/>
            <a:ext cx="1724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订单详情</a:t>
            </a: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94A3B8"/>
                </a:solidFill>
                <a:latin typeface="Microsoft YaHei"/>
                <a:ea typeface="Microsoft YaHei"/>
              </a:rPr>
              <a:t>接单人视角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096250" y="44196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【截图待补：录屏后替换】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71500" y="5486400"/>
            <a:ext cx="11049000" cy="80010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04850" y="5619750"/>
            <a:ext cx="10782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这五张截图的重点是「两个视角」：同一个订单，发单人看到「确认收货」，接单人看到「已取件」——动作权限在接口层就按角色分好了，不是前端藏起来的。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style={{ padding: 60, background: '#FFFFFF' }}&gt;&#10;  &lt;Box style={{ flexDirection: 'column', gap: 12, marginBottom: 24 }}&gt;&#10;    &lt;Text style={{ fontSize: 36, fontWeight: 'bold', color: '#1E293B', lineHeight: 1.2 }}&gt;&#10;      开发方法：我出判据，它出实现&#10;    &lt;/Text&gt;&#10;    &lt;Box style={{ width: '100%', height: 1, background: '#E5E7EB' }} /&gt;&#10;  &lt;/Box&gt;&#10;  &lt;Box style={{ flexDirection: 'row', gap: 24, flex: 1 }}&gt;&#10;    &lt;Box style={{ flex: 1, background: '#F8FAFC', border: '1px solid #E5E7EB', borderRadius: 12, padding: 26, gap: 14 }}&gt;&#10;      &lt;Text style={{ fontSize: 22, fontWeight: 'bold', color: '#2563EB', lineHeight: 1.3 }}&gt;我做三件事&lt;/Text&gt;&#10;      {['出判据：给可验收的标准，而不是模糊的要求', '做决策：技术选型、范围取舍、bug 定位', '负最终责任：每一行代码我都能讲清为什么'].map((s, i) =&gt; (&#10;        &lt;Box key={i} style={{ flexDirection: 'row', alignItems: 'flex-start', gap: 10 }}&gt;&#10;          &lt;Text style={{ fontSize: 16, color: '#2563EB', fontWeight: 'bold', lineHeight: 1.5 }}&gt;{i + 1}.&lt;/Text&gt;&#10;          &lt;Text style={{ fontSize: 17, color: '#1E293B', lineHeight: 1.5, flex: 1 }}&gt;{s}&lt;/Text&gt;&#10;        &lt;/Box&gt;&#10;      ))}&#10;    &lt;/Box&gt;&#10;    &lt;Box style={{ flex: 1, background: '#F8FAFC', border: '1px solid #E5E7EB', borderRadius: 12, padding: 26, gap: 14 }}&gt;&#10;      &lt;Text style={{ fontSize: 22, fontWeight: 'bold', color: '#64748B', lineHeight: 1.3 }}&gt;AI 做三件事&lt;/Text&gt;&#10;      {['写实现：按判据产出代码和测试', '跑测试：报结果，不替我做决定', '给出多方案：并列优缺点，而不是单一推荐'].map((s, i) =&gt; (&#10;        &lt;Box key={i} style={{ flexDirection: 'row', alignItems: 'flex-start', gap: 10 }}&gt;&#10;          &lt;Text style={{ fontSize: 16, color: '#64748B', fontWeight: 'bold', lineHeight: 1.5 }}&gt;{i + 1}.&lt;/Text&gt;&#10;          &lt;Text style={{ fontSize: 17, color: '#1E293B', lineHeight: 1.5, flex: 1 }}&gt;{s}&lt;/Text&gt;&#10;        &lt;/Box&gt;&#10;      ))}&#10;    &lt;/Box&gt;&#10;  &lt;/Box&gt;&#10;  &lt;Box style={{ background: '#2563EB', borderRadius: 8, padding: 18, marginTop: 22 }}&gt;&#10;    &lt;Text style={{ fontSize: 20, color: '#FFFFFF', lineHeight: 1.5 }}&gt;&#10;      什么叫判据？不说「抢单要防并发」，而说&lt;span style={{ fontWeight: 'bold' }}&gt;「20 个请求抢同一单，跑完库里必须只有 1 条 IN_PROGRESS」&lt;/span&gt;——能跑、能变红、能变绿，才算判据。&#10;    &lt;/Text&gt;&#10;    &lt;Text style={{ fontSize: 17, color: '#DBEAFE', lineHeight: 1.5, marginTop: 8 }}&gt;&#10;      而且 AI 说「测试全绿」不算数，我会在真库上再查一次——上一页那三个 bug，就是这么查出来的。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开发方法：我出判据，它出实现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571500" y="1419225"/>
            <a:ext cx="5410200" cy="325755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19150" y="1666875"/>
            <a:ext cx="4914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我做三件事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19150" y="213360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57275" y="2133600"/>
            <a:ext cx="4676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出判据：给可验收的标准，而不是模糊的要求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19150" y="25622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57275" y="2562225"/>
            <a:ext cx="4676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做决策：技术选型、范围取舍、</a:t>
            </a:r>
            <a:r>
              <a:rPr lang="en-US" sz="1275">
                <a:solidFill>
                  <a:srgbClr val="1E293B"/>
                </a:solidFill>
                <a:latin typeface="Microsoft YaHei"/>
                <a:ea typeface="Microsoft YaHei"/>
              </a:rPr>
              <a:t xml:space="preserve">bug 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19150" y="29908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57275" y="2990850"/>
            <a:ext cx="4676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负最终责任：每一行代码我都能讲清为什么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210300" y="1419225"/>
            <a:ext cx="5410200" cy="325755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457950" y="1666875"/>
            <a:ext cx="4914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做三件事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457950" y="213360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1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696075" y="2133600"/>
            <a:ext cx="4676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写实现：按判据产出代码和测试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457950" y="25622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696075" y="2562225"/>
            <a:ext cx="4676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跑测试：报结果，不替我做决定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457950" y="29908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3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696075" y="2990850"/>
            <a:ext cx="4676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给出多方案：并列优缺点，而不是单一推荐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571500" y="4886325"/>
            <a:ext cx="11049000" cy="1400175"/>
          </a:xfrm>
          <a:prstGeom prst="roundRect">
            <a:avLst>
              <a:gd name="adj" fmla="val 5442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42950" y="5057775"/>
            <a:ext cx="107061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什么叫判据？不说「抢单要防并发」，而说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「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个请求抢同一单，跑完库里必须只有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IN_PROGRESS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」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——能跑、能变红、能变绿，才算判据。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42950" y="5819775"/>
            <a:ext cx="10706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而且</a:t>
            </a:r>
            <a:r>
              <a:rPr lang="en-US" sz="1275">
                <a:solidFill>
                  <a:srgbClr val="DBEAFE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说「测试全绿」不算数，我会在真库上再查一次——上一页那三个</a:t>
            </a:r>
            <a:r>
              <a:rPr lang="en-US" sz="1275">
                <a:solidFill>
                  <a:srgbClr val="DBEAFE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275">
                <a:solidFill>
                  <a:srgbClr val="DBEAFE"/>
                </a:solidFill>
                <a:latin typeface="Microsoft YaHei"/>
                <a:ea typeface="Microsoft YaHei"/>
              </a:rPr>
              <a:t>，就是这么查出来的。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61" name="" descr="&lt;Slide style={{ padding: 60, background: '#FFFFFF' }}&gt;&#10;  &lt;Box style={{ flexDirection: 'column', gap: 12, marginBottom: 24 }}&gt;&#10;    &lt;Text style={{ fontSize: 36, fontWeight: 'bold', color: '#1E293B', lineHeight: 1.2 }}&gt;&#10;      个人收获&#10;    &lt;/Text&gt;&#10;    &lt;Box style={{ width: '100%', height: 1, background: '#E5E7EB' }} /&gt;&#10;  &lt;/Box&gt;&#10;  &lt;Box style={{ flexDirection: 'row', gap: 20, flex: 1 }}&gt;&#10;    &lt;Box style={{ flex: 1.1, flexDirection: 'column', gap: 20 }}&gt;&#10;      &lt;Box style={{ flex: 1, background: '#2563EB', borderRadius: 12, padding: 24, justifyContent: 'center', gap: 10 }}&gt;&#10;        &lt;Text style={{ fontSize: 22, fontWeight: 'bold', color: '#FFFFFF', lineHeight: 1.3 }}&gt;把「感觉」换成「判据」&lt;/Text&gt;&#10;        &lt;Text style={{ fontSize: 15, color: '#DBEAFE', lineHeight: 1.5 }}&gt;&#10;          「应该没问题」是没有意义的。能跑、能变红、能变绿的标准，才让协作和验收成为可能。&#10;        &lt;/Text&gt;&#10;      &lt;/Box&gt;&#10;      &lt;Box style={{ flex: 1, background: '#F8FAFC', border: '1px solid #E5E7EB', borderRadius: 12, padding: 24, justifyContent: 'center', gap: 10 }}&gt;&#10;        &lt;Text style={{ fontSize: 22, fontWeight: 'bold', color: '#1E293B', lineHeight: 1.3 }}&gt;理解了测试的边界&lt;/Text&gt;&#10;        &lt;Text style={{ fontSize: 15, color: '#64748B', lineHeight: 1.5 }}&gt;&#10;          单测测零件，测不出装配。三个「全绿之后才发现的 bug」让我真正理解了这一点。&#10;        &lt;/Text&gt;&#10;      &lt;/Box&gt;&#10;    &lt;/Box&gt;&#10;    &lt;Box style={{ flex: 1, flexDirection: 'column', gap: 20 }}&gt;&#10;      &lt;Box style={{ flex: 1, background: '#F8FAFC', border: '1px solid #E5E7EB', borderRadius: 12, padding: 24, justifyContent: 'center', gap: 10 }}&gt;&#10;        &lt;Text style={{ fontSize: 22, fontWeight: 'bold', color: '#1E293B', lineHeight: 1.3 }}&gt;AI 说全绿不算数&lt;/Text&gt;&#10;        &lt;Text style={{ fontSize: 15, color: '#64748B', lineHeight: 1.5 }}&gt;&#10;          工具可以写实现、跑测试，但「数据真的落库了吗」这个问题，只能我自己在真库上查。&#10;        &lt;/Text&gt;&#10;      &lt;/Box&gt;&#10;      &lt;Box style={{ flex: 1, background: '#F8FAFC', border: '1px solid #E5E7EB', borderRadius: 12, padding: 24, justifyContent: 'center', gap: 10 }}&gt;&#10;        &lt;Text style={{ fontSize: 22, fontWeight: 'bold', color: '#1E293B', lineHeight: 1.3 }}&gt;走完一次完整的工程&lt;/Text&gt;&#10;        &lt;Text style={{ fontSize: 15, color: '#64748B', lineHeight: 1.5 }}&gt;&#10;          从需求、架构、编码到测试、验收、交付，第一次完整地走了一遍，而每一环都有回退点。&#10;        &lt;/Text&gt;&#10;      &lt;/Box&gt;&#10;    &lt;/Box&gt;&#10;  &lt;/Box&gt;&#10;  &lt;Box style={{ background: '#FEF3C7', borderRadius: 8, padding: 16, marginTop: 20 }}&gt;&#10;    &lt;Text style={{ fontSize: 17, color: '#1E293B', lineHeight: 1.5 }}&gt;&#10;      最大的收获不是「做出了一个系统」，而是&lt;span style={{ fontWeight: 'bold', color: '#B45309' }}&gt;建立了一套「验证」的直觉&lt;/span&gt;：任何结论，都要问一句——它是在真库上、在真实请求之外验证过的吗？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个人收获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71500" y="1181100"/>
            <a:ext cx="11049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571500" y="1419225"/>
            <a:ext cx="5686425" cy="1943100"/>
          </a:xfrm>
          <a:prstGeom prst="roundRect">
            <a:avLst>
              <a:gd name="adj" fmla="val 5882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1924050"/>
            <a:ext cx="52292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把「感觉」换成「判据」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5229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DBEAFE"/>
                </a:solidFill>
                <a:latin typeface="Microsoft YaHei"/>
                <a:ea typeface="Microsoft YaHei"/>
              </a:rPr>
              <a:t>「应该没问题」是没有意义的。能跑、能变红、能变绿的标准，才让协作和验收成为可能。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71500" y="3552825"/>
            <a:ext cx="5686425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4057650"/>
            <a:ext cx="52292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理解了测试的边界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4486275"/>
            <a:ext cx="5229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单测测零件，测不出装配。三个「全绿之后才发现的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」让我真正理解了这一点。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448425" y="1419225"/>
            <a:ext cx="5172075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677025" y="1924050"/>
            <a:ext cx="47148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说全绿不算数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677025" y="2352675"/>
            <a:ext cx="47148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工具可以写实现、跑测试，但「数据真的落库了吗」这个问题，只能我自己在真库上查。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448425" y="3552825"/>
            <a:ext cx="5172075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677025" y="4057650"/>
            <a:ext cx="47148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走完一次完整的工程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677025" y="4486275"/>
            <a:ext cx="47148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从需求、架构、编码到测试、验收、交付，第一次完整地走了一遍，而每一环都有回退点。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71500" y="5686425"/>
            <a:ext cx="11049000" cy="600075"/>
          </a:xfrm>
          <a:prstGeom prst="roundRect">
            <a:avLst>
              <a:gd name="adj" fmla="val 12698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最大的收获不是「做出了一个系统」，而是</a:t>
            </a:r>
            <a:r>
              <a:rPr lang="zh-CN" sz="1275" b="1">
                <a:solidFill>
                  <a:srgbClr val="B45309"/>
                </a:solidFill>
                <a:latin typeface="Microsoft YaHei"/>
                <a:ea typeface="Microsoft YaHei"/>
              </a:rPr>
              <a:t>建立了一套「验证」的直觉</a:t>
            </a:r>
            <a:r>
              <a:rPr lang="zh-CN" sz="1275">
                <a:solidFill>
                  <a:srgbClr val="1E293B"/>
                </a:solidFill>
                <a:latin typeface="Microsoft YaHei"/>
                <a:ea typeface="Microsoft YaHei"/>
              </a:rPr>
              <a:t>：任何结论，都要问一句——它是在真库上、在真实请求之外验证过的吗？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padding: 60, background: '#FFFFFF' }}&gt;&#10;  &lt;Box style={{ flexDirection: 'row', gap: 40, flex: 1 }}&gt;&#10;    &lt;Box style={{ width: 300, background: '#0F172A', borderRadius: 12, padding: 40, justifyContent: 'center', gap: 16 }}&gt;&#10;      &lt;Text style={{ fontSize: 14, color: '#64748B', letterSpacing: 2 }}&gt;&#10;        下一步&#10;      &lt;/Text&gt;&#10;      &lt;Text style={{ fontSize: 40, fontWeight: 'bold', color: '#FFFFFF', lineHeight: 1.25 }}&gt;&#10;        后续规划&#10;      &lt;/Text&gt;&#10;      &lt;Text style={{ fontSize: 16, color: '#94A3B8', lineHeight: 1.5 }}&gt;&#10;        按「能不能上线」排优先级，而不是「好不好做」&#10;      &lt;/Text&gt;&#10;    &lt;/Box&gt;&#10;    &lt;Box style={{ flex: 1, flexDirection: 'column', gap: 16, justifyContent: 'center' }}&gt;&#10;      {[&#10;        { p: 'P0', t: '学号认证 + 推送', d: '没有真实身份，陌生人之间就建立不起信任；没有推送，接单靠刷。这两项不补，系统不能真正上线。', c: '#DC2626' },&#10;        { p: 'P1', t: '评价 + 纠纷仲裁', d: '完成后双向评分，超时失联走仲裁——把「信任」从规则变成可积累的信誉。', c: '#F59E0B' },&#10;        { p: 'P2', t: '后台管理 + 优化', d: '运营看板、风控、性能优化——上线后再迭代，不在一开始就过度设计。', c: '#64748B' },&#10;      ].map((r, i) =&gt; (&#10;        &lt;Box key={i} style={{ flexDirection: 'row', alignItems: 'flex-start', gap: 16 }}&gt;&#10;          &lt;Box style={{ width: 52, height: 34, background: r.c, borderRadius: 6, alignItems: 'center', justifyContent: 'center' }}&gt;&#10;            &lt;Text style={{ fontSize: 16, fontWeight: 'bold', color: '#FFFFFF' }}&gt;{r.p}&lt;/Text&gt;&#10;          &lt;/Box&gt;&#10;          &lt;Box style={{ flex: 1 }}&gt;&#10;            &lt;Text style={{ fontSize: 20, fontWeight: 'bold', color: '#1E293B', lineHeight: 1.3 }}&gt;{r.t}&lt;/Text&gt;&#10;            &lt;Text style={{ fontSize: 16, color: '#64748B', lineHeight: 1.5 }}&gt;{r.d}&lt;/Text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571500" y="571500"/>
            <a:ext cx="2857500" cy="5715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52500" y="263842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52500" y="2952750"/>
            <a:ext cx="20955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后续规划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52500" y="3676650"/>
            <a:ext cx="2095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按「能不能上线」排优先级，而不是「好不好做」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3810000" y="2409825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3962400" y="24765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P0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457700" y="2409825"/>
            <a:ext cx="71628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学号认证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推送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457700" y="2714625"/>
            <a:ext cx="7162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没有真实身份，陌生人之间就建立不起信任；没有推送，接单靠刷。这两项不补，系统不能真正上线。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810000" y="314325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962400" y="320992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57700" y="3143250"/>
            <a:ext cx="71628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评价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纠纷仲裁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57700" y="3448050"/>
            <a:ext cx="7162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完成后双向评分，超时失联走仲裁——把「信任」从规则变成可积累的信誉。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3810000" y="3876675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962400" y="394335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457700" y="3876675"/>
            <a:ext cx="71628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后台管理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优化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457700" y="4181475"/>
            <a:ext cx="7162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运营看板、风控、性能优化——上线后再迭代，不在一开始就过度设计。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97" name="" descr="&lt;Slide style={{ padding: 60, background: '#2563EB' }}&gt;&#10;  &lt;Box style={{ flex: 1, justifyContent: 'center', gap: 28, alignItems: 'center' }}&gt;&#10;    &lt;Text style={{ fontSize: 48, fontWeight: 'bold', color: '#FFFFFF', lineHeight: 1.35, textAlign: 'center' }}&gt;&#10;      让「代取」这件小事&#10;    &lt;/Text&gt;&#10;    &lt;Text style={{ fontSize: 48, fontWeight: 'bold', color: '#FFFFFF', lineHeight: 1.35, textAlign: 'center' }}&gt;&#10;      变得可信任、可追溯&#10;    &lt;/Text&gt;&#10;    &lt;Box style={{ width: 60, height: 4, background: '#F59E0B', borderRadius: 2, marginTop: 8 }} /&gt;&#10;    &lt;Text style={{ fontSize: 20, color: '#DBEAFE', lineHeight: 1.5, textAlign: 'center' }}&gt;&#10;      谢谢聆听，欢迎提问&#10;    &lt;/Text&gt;&#10;  &lt;/Box&gt;&#10;  &lt;Box style={{ flexDirection: 'row', justifyContent: 'space-between', alignItems: 'center' }}&gt;&#10;    &lt;Text style={{ fontSize: 15, color: '#BFDBFE' }}&gt;&#10;      汇报人：王思嘉&#10;    &lt;/Text&gt;&#10;    &lt;Text style={{ fontSize: 15, color: '#BFDBFE' }}&gt;&#10;      2026-10-29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038600" y="1971675"/>
            <a:ext cx="41148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让「代取」这件小事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038600" y="2981325"/>
            <a:ext cx="41148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变得可信任、可追溯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810250" y="40671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238750" y="4371975"/>
            <a:ext cx="17145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500">
                <a:solidFill>
                  <a:srgbClr val="DBEAFE"/>
                </a:solidFill>
                <a:latin typeface="Microsoft YaHei"/>
                <a:ea typeface="Microsoft YaHei"/>
              </a:rPr>
              <a:t>谢谢聆听，欢迎提问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FDBFE"/>
                </a:solidFill>
                <a:latin typeface="Microsoft YaHei"/>
                <a:ea typeface="Microsoft YaHei"/>
              </a:rPr>
              <a:t>汇报人：王思嘉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0820400" y="6115050"/>
            <a:ext cx="80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FDBFE"/>
                </a:solidFill>
                <a:latin typeface="Microsoft YaHei"/>
                <a:ea typeface="Microsoft YaHei"/>
              </a:rPr>
              <a:t>2026-10-29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2026-10-29T01:42:24Z</dcterms:created>
  <dcterms:modified xsi:type="dcterms:W3CDTF">2026-10-29T01:42:24Z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{"AIGC":{"Label":"1","ContentProducer":"00119111010856365494821B355","ProduceID":"01a1836f434a7485adfba1b24d89a2d7","ReservedCode1":"","ContentPropagator":"00119111010856365494821B355","PropagateID":"01a1836f434a7485adfba1b24d89a2d7","ReservedCode2":""}}</vt:lpwstr>
  </property>
</Properties>
</file>